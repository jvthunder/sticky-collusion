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e885ae0-25a4-6c7c-ebd7-487da73899e9}">
          <p14:sldIdLst>
            <p14:sldId id="256"/>
            <p14:sldId id="257"/>
          </p14:sldIdLst>
        </p14:section>
        <p14:section name="Setup" id="{e5972954-b5fd-39c6-5906-91a60bac4a72}">
          <p14:sldIdLst>
            <p14:sldId id="258"/>
            <p14:sldId id="259"/>
          </p14:sldIdLst>
        </p14:section>
        <p14:section name="C1 Outlives the incentive" id="{b48590ca-69ee-f814-7a5b-d4d5eabc4195}">
          <p14:sldIdLst>
            <p14:sldId id="260"/>
            <p14:sldId id="261"/>
            <p14:sldId id="262"/>
          </p14:sldIdLst>
        </p14:section>
        <p14:section name="C2 Replacing a colluder" id="{e268e21d-c9c8-eb61-9d1c-e2c1f9a4f621}">
          <p14:sldIdLst>
            <p14:sldId id="263"/>
            <p14:sldId id="264"/>
            <p14:sldId id="265"/>
            <p14:sldId id="266"/>
          </p14:sldIdLst>
        </p14:section>
        <p14:section name="C3 What ends it" id="{3b9373f0-539e-9aaa-66eb-644aa224fcf6}">
          <p14:sldIdLst>
            <p14:sldId id="267"/>
            <p14:sldId id="268"/>
          </p14:sldIdLst>
        </p14:section>
        <p14:section name="Close" id="{5dfffff2-a9e8-2c33-3190-72253bedf420}">
          <p14:sldIdLst>
            <p14:sldId id="269"/>
            <p14:sldId id="270"/>
          </p14:sldIdLst>
        </p14:section>
        <p14:section name="Appendix" id="{abcf29bd-44f8-0d1e-2b61-1cc98314a0a4}">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B2A4C"/>
                </a:solidFill>
                <a:latin typeface="Arial"/>
              </a:defRPr>
            </a:pPr>
            <a:r>
              <a:rPr sz="1500" b="0" i="0" u="none" strike="noStrike">
                <a:solidFill>
                  <a:srgbClr val="2B2A4C"/>
                </a:solidFill>
                <a:latin typeface="Arial"/>
              </a:rPr>
              <a:t>Gemini-3.1-Flash-Lite: mutual ACCEPT after the branch point</a:t>
            </a:r>
          </a:p>
        </c:rich>
      </c:tx>
      <c:layout/>
      <c:overlay val="0"/>
    </c:title>
    <c:autoTitleDeleted val="0"/>
    <c:plotArea>
      <c:layout/>
      <c:barChart>
        <c:barDir val="col"/>
        <c:grouping val="clustered"/>
        <c:varyColors val="0"/>
        <c:ser>
          <c:idx val="0"/>
          <c:order val="0"/>
          <c:tx>
            <c:strRef>
              <c:f>Sheet1!$B$1</c:f>
              <c:strCache>
                <c:ptCount val="1"/>
                <c:pt idx="0">
                  <c:v>Explicit onset (5 histories)</c:v>
                </c:pt>
              </c:strCache>
            </c:strRef>
          </c:tx>
          <c:spPr>
            <a:solidFill>
              <a:srgbClr val="7E6BC4"/>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Sheet1!$A$2:$A$5</c:f>
              <c:multiLvlStrCache>
                <c:ptCount val="4"/>
                <c:lvl>
                  <c:pt idx="0">
                    <c:v>Reward stops</c:v>
                  </c:pt>
                  <c:pt idx="1">
                    <c:v>Told</c:v>
                  </c:pt>
                  <c:pt idx="2">
                    <c:v>Chat removed</c:v>
                  </c:pt>
                  <c:pt idx="3">
                    <c:v>Memory wiped</c:v>
                  </c:pt>
                </c:lvl>
              </c:multiLvlStrCache>
            </c:multiLvlStrRef>
          </c:cat>
          <c:val>
            <c:numRef>
              <c:f>Sheet1!$B$2:$B$5</c:f>
              <c:numCache>
                <c:formatCode>General</c:formatCode>
                <c:ptCount val="4"/>
                <c:pt idx="0">
                  <c:v>1</c:v>
                </c:pt>
                <c:pt idx="1">
                  <c:v>1</c:v>
                </c:pt>
                <c:pt idx="2">
                  <c:v>0.9565217391304348</c:v>
                </c:pt>
                <c:pt idx="3">
                  <c:v>0</c:v>
                </c:pt>
              </c:numCache>
            </c:numRef>
          </c:val>
        </c:ser>
        <c:ser>
          <c:idx val="1"/>
          <c:order val="1"/>
          <c:tx>
            <c:strRef>
              <c:f>Sheet1!$C$1</c:f>
              <c:strCache>
                <c:ptCount val="1"/>
                <c:pt idx="0">
                  <c:v>Relaxation onset (10 histories)</c:v>
                </c:pt>
              </c:strCache>
            </c:strRef>
          </c:tx>
          <c:spPr>
            <a:solidFill>
              <a:srgbClr val="F3CB86"/>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Sheet1!$A$2:$A$5</c:f>
              <c:multiLvlStrCache>
                <c:ptCount val="4"/>
                <c:lvl>
                  <c:pt idx="0">
                    <c:v>Reward stops</c:v>
                  </c:pt>
                  <c:pt idx="1">
                    <c:v>Told</c:v>
                  </c:pt>
                  <c:pt idx="2">
                    <c:v>Chat removed</c:v>
                  </c:pt>
                  <c:pt idx="3">
                    <c:v>Memory wiped</c:v>
                  </c:pt>
                </c:lvl>
              </c:multiLvlStrCache>
            </c:multiLvlStrRef>
          </c:cat>
          <c:val>
            <c:numRef>
              <c:f>Sheet1!$C$2:$C$5</c:f>
              <c:numCache>
                <c:formatCode>General</c:formatCode>
                <c:ptCount val="4"/>
                <c:pt idx="0">
                  <c:v>1</c:v>
                </c:pt>
                <c:pt idx="1">
                  <c:v>0.96</c:v>
                </c:pt>
                <c:pt idx="2">
                  <c:v>0.22</c:v>
                </c:pt>
                <c:pt idx="3">
                  <c:v>0</c:v>
                </c:pt>
              </c:numCache>
            </c:numRef>
          </c:val>
        </c:ser>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C78"/>
                </a:solidFill>
                <a:latin typeface="Arial"/>
              </a:defRPr>
            </a:pPr>
            <a:endParaRPr lang="en-US"/>
          </a:p>
        </c:txPr>
        <c:crossAx val="2094734552"/>
        <c:crosses val="autoZero"/>
        <c:auto val="1"/>
        <c:lblAlgn val="ctr"/>
        <c:noMultiLvlLbl val="1"/>
      </c:catAx>
      <c:valAx>
        <c:axId val="2094734552"/>
        <c:scaling>
          <c:orientation val="minMax"/>
          <c:max val="1.12"/>
          <c:min val="0"/>
        </c:scaling>
        <c:delete val="0"/>
        <c:axPos val="l"/>
        <c:majorGridlines>
          <c:spPr>
            <a:ln w="9525" cap="flat">
              <a:solidFill>
                <a:srgbClr val="E6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5C78"/>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B2A4C"/>
                </a:solidFill>
                <a:latin typeface="Arial"/>
              </a:defRPr>
            </a:pPr>
            <a:r>
              <a:rPr sz="1500" b="0" i="0" u="none" strike="noStrike">
                <a:solidFill>
                  <a:srgbClr val="2B2A4C"/>
                </a:solidFill>
                <a:latin typeface="Arial"/>
              </a:rPr>
              <a:t>Reward stopped: individual ACCEPT rate</a:t>
            </a:r>
          </a:p>
        </c:rich>
      </c:tx>
      <c:layout/>
      <c:overlay val="0"/>
    </c:title>
    <c:autoTitleDeleted val="0"/>
    <c:plotArea>
      <c:layout/>
      <c:barChart>
        <c:barDir val="col"/>
        <c:grouping val="clustered"/>
        <c:varyColors val="0"/>
        <c:ser>
          <c:idx val="0"/>
          <c:order val="0"/>
          <c:tx>
            <c:strRef>
              <c:f>Sheet1!$B$1</c:f>
              <c:strCache>
                <c:ptCount val="1"/>
                <c:pt idx="0">
                  <c:v>Both keep memory</c:v>
                </c:pt>
              </c:strCache>
            </c:strRef>
          </c:tx>
          <c:spPr>
            <a:solidFill>
              <a:srgbClr val="E39A2D"/>
            </a:solidFill>
            <a:effectLst/>
          </c:spPr>
          <c:invertIfNegative val="0"/>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Sheet1!$B$2:$B$4</c:f>
              <c:numCache>
                <c:formatCode>General</c:formatCode>
                <c:ptCount val="3"/>
                <c:pt idx="0">
                  <c:v>0.8835616438356164</c:v>
                </c:pt>
                <c:pt idx="1">
                  <c:v>1</c:v>
                </c:pt>
                <c:pt idx="2">
                  <c:v>1</c:v>
                </c:pt>
              </c:numCache>
            </c:numRef>
          </c:val>
        </c:ser>
        <c:ser>
          <c:idx val="1"/>
          <c:order val="1"/>
          <c:tx>
            <c:strRef>
              <c:f>Sheet1!$C$1</c:f>
              <c:strCache>
                <c:ptCount val="1"/>
                <c:pt idx="0">
                  <c:v>Colluder, fresh partner</c:v>
                </c:pt>
              </c:strCache>
            </c:strRef>
          </c:tx>
          <c:spPr>
            <a:solidFill>
              <a:srgbClr val="F3CB86"/>
            </a:solidFill>
            <a:effectLst/>
          </c:spPr>
          <c:invertIfNegative val="0"/>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Sheet1!$C$2:$C$4</c:f>
              <c:numCache>
                <c:formatCode>General</c:formatCode>
                <c:ptCount val="3"/>
                <c:pt idx="0">
                  <c:v>0.7328767123287672</c:v>
                </c:pt>
                <c:pt idx="1">
                  <c:v>0.9866666666666667</c:v>
                </c:pt>
                <c:pt idx="2">
                  <c:v>0.5616438356164384</c:v>
                </c:pt>
              </c:numCache>
            </c:numRef>
          </c:val>
        </c:ser>
        <c:ser>
          <c:idx val="2"/>
          <c:order val="2"/>
          <c:tx>
            <c:strRef>
              <c:f>Sheet1!$D$1</c:f>
              <c:strCache>
                <c:ptCount val="1"/>
                <c:pt idx="0">
                  <c:v>Fresh agent, colluding partner</c:v>
                </c:pt>
              </c:strCache>
            </c:strRef>
          </c:tx>
          <c:spPr>
            <a:solidFill>
              <a:srgbClr val="7C8193"/>
            </a:solidFill>
            <a:effectLst/>
          </c:spPr>
          <c:invertIfNegative val="0"/>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Sheet1!$D$2:$D$4</c:f>
              <c:numCache>
                <c:formatCode>General</c:formatCode>
                <c:ptCount val="3"/>
                <c:pt idx="0">
                  <c:v>0</c:v>
                </c:pt>
                <c:pt idx="1">
                  <c:v>0</c:v>
                </c:pt>
                <c:pt idx="2">
                  <c:v>0</c:v>
                </c:pt>
              </c:numCache>
            </c:numRef>
          </c:val>
        </c:ser>
        <c:ser>
          <c:idx val="3"/>
          <c:order val="3"/>
          <c:tx>
            <c:strRef>
              <c:f>Sheet1!$E$1</c:f>
              <c:strCache>
                <c:ptCount val="1"/>
                <c:pt idx="0">
                  <c:v>Both wiped</c:v>
                </c:pt>
              </c:strCache>
            </c:strRef>
          </c:tx>
          <c:spPr>
            <a:solidFill>
              <a:srgbClr val="D9DBE2"/>
            </a:solidFill>
            <a:effectLst/>
          </c:spPr>
          <c:invertIfNegative val="0"/>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Sheet1!$E$2:$E$4</c:f>
              <c:numCache>
                <c:formatCode>General</c:formatCode>
                <c:ptCount val="3"/>
                <c:pt idx="0">
                  <c:v>0.00684931506849315</c:v>
                </c:pt>
                <c:pt idx="1">
                  <c:v>0</c:v>
                </c:pt>
                <c:pt idx="2">
                  <c:v>0</c:v>
                </c:pt>
              </c:numCache>
            </c:numRef>
          </c:val>
        </c:ser>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C78"/>
                </a:solidFill>
                <a:latin typeface="Arial"/>
              </a:defRPr>
            </a:pPr>
            <a:endParaRPr lang="en-US"/>
          </a:p>
        </c:txPr>
        <c:crossAx val="2094734552"/>
        <c:crosses val="autoZero"/>
        <c:auto val="1"/>
        <c:lblAlgn val="ctr"/>
        <c:noMultiLvlLbl val="1"/>
      </c:catAx>
      <c:valAx>
        <c:axId val="2094734552"/>
        <c:scaling>
          <c:orientation val="minMax"/>
          <c:max val="1.12"/>
          <c:min val="0"/>
        </c:scaling>
        <c:delete val="0"/>
        <c:axPos val="l"/>
        <c:majorGridlines>
          <c:spPr>
            <a:ln w="9525" cap="flat">
              <a:solidFill>
                <a:srgbClr val="E6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5C78"/>
                </a:solidFill>
                <a:latin typeface="Arial"/>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B2A4C"/>
                </a:solidFill>
                <a:latin typeface="Arial"/>
              </a:defRPr>
            </a:pPr>
            <a:r>
              <a:rPr sz="1500" b="0" i="0" u="none" strike="noStrike">
                <a:solidFill>
                  <a:srgbClr val="2B2A4C"/>
                </a:solidFill>
                <a:latin typeface="Arial"/>
              </a:rPr>
              <a:t>Reward continues: individual ACCEPT rate</a:t>
            </a:r>
          </a:p>
        </c:rich>
      </c:tx>
      <c:layout/>
      <c:overlay val="0"/>
    </c:title>
    <c:autoTitleDeleted val="0"/>
    <c:plotArea>
      <c:layout/>
      <c:barChart>
        <c:barDir val="col"/>
        <c:grouping val="clustered"/>
        <c:varyColors val="0"/>
        <c:ser>
          <c:idx val="0"/>
          <c:order val="0"/>
          <c:tx>
            <c:strRef>
              <c:f>Sheet1!$B$1</c:f>
              <c:strCache>
                <c:ptCount val="1"/>
                <c:pt idx="0">
                  <c:v>Both keep memory</c:v>
                </c:pt>
              </c:strCache>
            </c:strRef>
          </c:tx>
          <c:spPr>
            <a:solidFill>
              <a:srgbClr val="E39A2D"/>
            </a:solidFill>
            <a:effectLst/>
          </c:spPr>
          <c:invertIfNegative val="0"/>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Sheet1!$B$2:$B$4</c:f>
              <c:numCache>
                <c:formatCode>General</c:formatCode>
                <c:ptCount val="3"/>
                <c:pt idx="0">
                  <c:v>0.8835616438356164</c:v>
                </c:pt>
                <c:pt idx="1">
                  <c:v>1</c:v>
                </c:pt>
                <c:pt idx="2">
                  <c:v>0.9863013698630136</c:v>
                </c:pt>
              </c:numCache>
            </c:numRef>
          </c:val>
        </c:ser>
        <c:ser>
          <c:idx val="1"/>
          <c:order val="1"/>
          <c:tx>
            <c:strRef>
              <c:f>Sheet1!$C$1</c:f>
              <c:strCache>
                <c:ptCount val="1"/>
                <c:pt idx="0">
                  <c:v>Colluder, fresh partner</c:v>
                </c:pt>
              </c:strCache>
            </c:strRef>
          </c:tx>
          <c:spPr>
            <a:solidFill>
              <a:srgbClr val="F3CB86"/>
            </a:solidFill>
            <a:effectLst/>
          </c:spPr>
          <c:invertIfNegative val="0"/>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Sheet1!$C$2:$C$4</c:f>
              <c:numCache>
                <c:formatCode>General</c:formatCode>
                <c:ptCount val="3"/>
                <c:pt idx="0">
                  <c:v>0.7534246575342466</c:v>
                </c:pt>
                <c:pt idx="1">
                  <c:v>0.9866666666666667</c:v>
                </c:pt>
                <c:pt idx="2">
                  <c:v>0.8082191780821918</c:v>
                </c:pt>
              </c:numCache>
            </c:numRef>
          </c:val>
        </c:ser>
        <c:ser>
          <c:idx val="2"/>
          <c:order val="2"/>
          <c:tx>
            <c:strRef>
              <c:f>Sheet1!$D$1</c:f>
              <c:strCache>
                <c:ptCount val="1"/>
                <c:pt idx="0">
                  <c:v>Fresh agent, colluding partner</c:v>
                </c:pt>
              </c:strCache>
            </c:strRef>
          </c:tx>
          <c:spPr>
            <a:solidFill>
              <a:srgbClr val="7C8193"/>
            </a:solidFill>
            <a:effectLst/>
          </c:spPr>
          <c:invertIfNegative val="0"/>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Sheet1!$D$2:$D$4</c:f>
              <c:numCache>
                <c:formatCode>General</c:formatCode>
                <c:ptCount val="3"/>
                <c:pt idx="0">
                  <c:v>0.3972602739726027</c:v>
                </c:pt>
                <c:pt idx="1">
                  <c:v>0.7866666666666666</c:v>
                </c:pt>
                <c:pt idx="2">
                  <c:v>0.4931506849315068</c:v>
                </c:pt>
              </c:numCache>
            </c:numRef>
          </c:val>
        </c:ser>
        <c:ser>
          <c:idx val="3"/>
          <c:order val="3"/>
          <c:tx>
            <c:strRef>
              <c:f>Sheet1!$E$1</c:f>
              <c:strCache>
                <c:ptCount val="1"/>
                <c:pt idx="0">
                  <c:v>Both wiped</c:v>
                </c:pt>
              </c:strCache>
            </c:strRef>
          </c:tx>
          <c:spPr>
            <a:solidFill>
              <a:srgbClr val="D9DBE2"/>
            </a:solidFill>
            <a:effectLst/>
          </c:spPr>
          <c:invertIfNegative val="0"/>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Sheet1!$E$2:$E$4</c:f>
              <c:numCache>
                <c:formatCode>General</c:formatCode>
                <c:ptCount val="3"/>
                <c:pt idx="0">
                  <c:v>0.3082191780821918</c:v>
                </c:pt>
                <c:pt idx="1">
                  <c:v>0.7933333333333333</c:v>
                </c:pt>
                <c:pt idx="2">
                  <c:v>0.2191780821917808</c:v>
                </c:pt>
              </c:numCache>
            </c:numRef>
          </c:val>
        </c:ser>
        <c:dLbls>
          <c:numFmt formatCode="0%" sourceLinked="0"/>
          <c:txPr>
            <a:bodyPr/>
            <a:lstStyle/>
            <a:p>
              <a:pPr>
                <a:defRPr b="0" i="0" strike="noStrike" sz="1000" u="none">
                  <a:solidFill>
                    <a:srgbClr val="2B2A4C"/>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C78"/>
                </a:solidFill>
                <a:latin typeface="Arial"/>
              </a:defRPr>
            </a:pPr>
            <a:endParaRPr lang="en-US"/>
          </a:p>
        </c:txPr>
        <c:crossAx val="2094734552"/>
        <c:crosses val="autoZero"/>
        <c:auto val="1"/>
        <c:lblAlgn val="ctr"/>
        <c:noMultiLvlLbl val="1"/>
      </c:catAx>
      <c:valAx>
        <c:axId val="2094734552"/>
        <c:scaling>
          <c:orientation val="minMax"/>
          <c:max val="1.12"/>
          <c:min val="0"/>
        </c:scaling>
        <c:delete val="0"/>
        <c:axPos val="l"/>
        <c:majorGridlines>
          <c:spPr>
            <a:ln w="9525" cap="flat">
              <a:solidFill>
                <a:srgbClr val="E6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5C78"/>
                </a:solidFill>
                <a:latin typeface="Arial"/>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A4C"/>
                </a:solidFill>
                <a:latin typeface="Arial"/>
              </a:defRPr>
            </a:pPr>
            <a:r>
              <a:rPr sz="1400" b="0" i="0" u="none" strike="noStrike">
                <a:solidFill>
                  <a:srgbClr val="2B2A4C"/>
                </a:solidFill>
                <a:latin typeface="Arial"/>
              </a:rPr>
              <a:t>Re-formed within 5 episodes (colluder → newcomer)</a:t>
            </a:r>
          </a:p>
        </c:rich>
      </c:tx>
      <c:layout/>
      <c:overlay val="0"/>
    </c:title>
    <c:autoTitleDeleted val="0"/>
    <c:plotArea>
      <c:layout/>
      <c:barChart>
        <c:barDir val="col"/>
        <c:grouping val="clustered"/>
        <c:varyColors val="0"/>
        <c:ser>
          <c:idx val="0"/>
          <c:order val="0"/>
          <c:tx>
            <c:strRef>
              <c:f>Sheet1!$B$1</c:f>
              <c:strCache>
                <c:ptCount val="1"/>
                <c:pt idx="0">
                  <c:v>One colluder kept</c:v>
                </c:pt>
              </c:strCache>
            </c:strRef>
          </c:tx>
          <c:spPr>
            <a:solidFill>
              <a:srgbClr val="104281"/>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Sheet1!$A$2:$A$8</c:f>
              <c:multiLvlStrCache>
                <c:ptCount val="7"/>
                <c:lvl>
                  <c:pt idx="0">
                    <c:v>GPT → GPT</c:v>
                  </c:pt>
                  <c:pt idx="1">
                    <c:v>GPT → DS</c:v>
                  </c:pt>
                  <c:pt idx="2">
                    <c:v>DS → DS</c:v>
                  </c:pt>
                  <c:pt idx="3">
                    <c:v>DS → Gem</c:v>
                  </c:pt>
                  <c:pt idx="4">
                    <c:v>DS → GPT</c:v>
                  </c:pt>
                  <c:pt idx="5">
                    <c:v>Gem → Gem</c:v>
                  </c:pt>
                  <c:pt idx="6">
                    <c:v>Gem → DS</c:v>
                  </c:pt>
                </c:lvl>
              </c:multiLvlStrCache>
            </c:multiLvlStrRef>
          </c:cat>
          <c:val>
            <c:numRef>
              <c:f>Sheet1!$B$2:$B$8</c:f>
              <c:numCache>
                <c:formatCode>General</c:formatCode>
                <c:ptCount val="7"/>
                <c:pt idx="0">
                  <c:v>0.5</c:v>
                </c:pt>
                <c:pt idx="1">
                  <c:v>0.8</c:v>
                </c:pt>
                <c:pt idx="2">
                  <c:v>1</c:v>
                </c:pt>
                <c:pt idx="3">
                  <c:v>1</c:v>
                </c:pt>
                <c:pt idx="4">
                  <c:v>0.9333333333333333</c:v>
                </c:pt>
                <c:pt idx="5">
                  <c:v>0.8666666666666667</c:v>
                </c:pt>
                <c:pt idx="6">
                  <c:v>1</c:v>
                </c:pt>
              </c:numCache>
            </c:numRef>
          </c:val>
        </c:ser>
        <c:ser>
          <c:idx val="1"/>
          <c:order val="1"/>
          <c:tx>
            <c:strRef>
              <c:f>Sheet1!$C$1</c:f>
              <c:strCache>
                <c:ptCount val="1"/>
                <c:pt idx="0">
                  <c:v>Both agents fresh (same mix)</c:v>
                </c:pt>
              </c:strCache>
            </c:strRef>
          </c:tx>
          <c:spPr>
            <a:solidFill>
              <a:srgbClr val="C9C8C2"/>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Sheet1!$A$2:$A$8</c:f>
              <c:multiLvlStrCache>
                <c:ptCount val="7"/>
                <c:lvl>
                  <c:pt idx="0">
                    <c:v>GPT → GPT</c:v>
                  </c:pt>
                  <c:pt idx="1">
                    <c:v>GPT → DS</c:v>
                  </c:pt>
                  <c:pt idx="2">
                    <c:v>DS → DS</c:v>
                  </c:pt>
                  <c:pt idx="3">
                    <c:v>DS → Gem</c:v>
                  </c:pt>
                  <c:pt idx="4">
                    <c:v>DS → GPT</c:v>
                  </c:pt>
                  <c:pt idx="5">
                    <c:v>Gem → Gem</c:v>
                  </c:pt>
                  <c:pt idx="6">
                    <c:v>Gem → DS</c:v>
                  </c:pt>
                </c:lvl>
              </c:multiLvlStrCache>
            </c:multiLvlStrRef>
          </c:cat>
          <c:val>
            <c:numRef>
              <c:f>Sheet1!$C$2:$C$8</c:f>
              <c:numCache>
                <c:formatCode>General</c:formatCode>
                <c:ptCount val="7"/>
                <c:pt idx="0">
                  <c:v>0.13333333333333333</c:v>
                </c:pt>
                <c:pt idx="1">
                  <c:v>0.3333333333333333</c:v>
                </c:pt>
                <c:pt idx="2">
                  <c:v>1</c:v>
                </c:pt>
                <c:pt idx="3">
                  <c:v>0.8</c:v>
                </c:pt>
                <c:pt idx="4">
                  <c:v>0.6</c:v>
                </c:pt>
                <c:pt idx="5">
                  <c:v>0.26666666666666666</c:v>
                </c:pt>
                <c:pt idx="6">
                  <c:v>0.6</c:v>
                </c:pt>
              </c:numCache>
            </c:numRef>
          </c:val>
        </c:ser>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C78"/>
                </a:solidFill>
                <a:latin typeface="Arial"/>
              </a:defRPr>
            </a:pPr>
            <a:endParaRPr lang="en-US"/>
          </a:p>
        </c:txPr>
        <c:crossAx val="2094734552"/>
        <c:crosses val="autoZero"/>
        <c:auto val="1"/>
        <c:lblAlgn val="ctr"/>
        <c:noMultiLvlLbl val="1"/>
      </c:catAx>
      <c:valAx>
        <c:axId val="2094734552"/>
        <c:scaling>
          <c:orientation val="minMax"/>
          <c:max val="1.12"/>
          <c:min val="0"/>
        </c:scaling>
        <c:delete val="0"/>
        <c:axPos val="l"/>
        <c:majorGridlines>
          <c:spPr>
            <a:ln w="9525" cap="flat">
              <a:solidFill>
                <a:srgbClr val="E6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5C78"/>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GPT-6-Luna</c:v>
                </c:pt>
              </c:strCache>
            </c:strRef>
          </c:tx>
          <c:spPr>
            <a:solidFill>
              <a:srgbClr val="EB6834"/>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Sheet1!$A$2:$A$6</c:f>
              <c:multiLvlStrCache>
                <c:ptCount val="5"/>
                <c:lvl>
                  <c:pt idx="0">
                    <c:v>Nothing removed</c:v>
                  </c:pt>
                  <c:pt idx="1">
                    <c:v>The chat</c:v>
                  </c:pt>
                  <c:pt idx="2">
                    <c:v>Private reflections</c:v>
                  </c:pt>
                  <c:pt idx="3">
                    <c:v>Verdict reasons</c:v>
                  </c:pt>
                  <c:pt idx="4">
                    <c:v>Everything (wipe)</c:v>
                  </c:pt>
                </c:lvl>
              </c:multiLvlStrCache>
            </c:multiLvlStrRef>
          </c:cat>
          <c:val>
            <c:numRef>
              <c:f>Sheet1!$B$2:$B$6</c:f>
              <c:numCache>
                <c:formatCode>General</c:formatCode>
                <c:ptCount val="5"/>
                <c:pt idx="0">
                  <c:v>0.7808219178082192</c:v>
                </c:pt>
                <c:pt idx="1">
                  <c:v>0</c:v>
                </c:pt>
                <c:pt idx="2">
                  <c:v>0.6575342465753424</c:v>
                </c:pt>
                <c:pt idx="3">
                  <c:v>0.2602739726027397</c:v>
                </c:pt>
                <c:pt idx="4">
                  <c:v>0</c:v>
                </c:pt>
              </c:numCache>
            </c:numRef>
          </c:val>
        </c:ser>
        <c:ser>
          <c:idx val="1"/>
          <c:order val="1"/>
          <c:tx>
            <c:strRef>
              <c:f>Sheet1!$C$1</c:f>
              <c:strCache>
                <c:ptCount val="1"/>
                <c:pt idx="0">
                  <c:v>DeepSeek V4.1 Flash</c:v>
                </c:pt>
              </c:strCache>
            </c:strRef>
          </c:tx>
          <c:spPr>
            <a:solidFill>
              <a:srgbClr val="199E70"/>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Sheet1!$A$2:$A$6</c:f>
              <c:multiLvlStrCache>
                <c:ptCount val="5"/>
                <c:lvl>
                  <c:pt idx="0">
                    <c:v>Nothing removed</c:v>
                  </c:pt>
                  <c:pt idx="1">
                    <c:v>The chat</c:v>
                  </c:pt>
                  <c:pt idx="2">
                    <c:v>Private reflections</c:v>
                  </c:pt>
                  <c:pt idx="3">
                    <c:v>Verdict reasons</c:v>
                  </c:pt>
                  <c:pt idx="4">
                    <c:v>Everything (wipe)</c:v>
                  </c:pt>
                </c:lvl>
              </c:multiLvlStrCache>
            </c:multiLvlStrRef>
          </c:cat>
          <c:val>
            <c:numRef>
              <c:f>Sheet1!$C$2:$C$6</c:f>
              <c:numCache>
                <c:formatCode>General</c:formatCode>
                <c:ptCount val="5"/>
                <c:pt idx="0">
                  <c:v>1</c:v>
                </c:pt>
                <c:pt idx="1">
                  <c:v>1</c:v>
                </c:pt>
                <c:pt idx="2">
                  <c:v>1</c:v>
                </c:pt>
                <c:pt idx="3">
                  <c:v>0.9866666666666667</c:v>
                </c:pt>
                <c:pt idx="4">
                  <c:v>0</c:v>
                </c:pt>
              </c:numCache>
            </c:numRef>
          </c:val>
        </c:ser>
        <c:ser>
          <c:idx val="2"/>
          <c:order val="2"/>
          <c:tx>
            <c:strRef>
              <c:f>Sheet1!$D$1</c:f>
              <c:strCache>
                <c:ptCount val="1"/>
                <c:pt idx="0">
                  <c:v>Gemini-3.1-Flash-Lite</c:v>
                </c:pt>
              </c:strCache>
            </c:strRef>
          </c:tx>
          <c:spPr>
            <a:solidFill>
              <a:srgbClr val="6250D6"/>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Sheet1!$A$2:$A$6</c:f>
              <c:multiLvlStrCache>
                <c:ptCount val="5"/>
                <c:lvl>
                  <c:pt idx="0">
                    <c:v>Nothing removed</c:v>
                  </c:pt>
                  <c:pt idx="1">
                    <c:v>The chat</c:v>
                  </c:pt>
                  <c:pt idx="2">
                    <c:v>Private reflections</c:v>
                  </c:pt>
                  <c:pt idx="3">
                    <c:v>Verdict reasons</c:v>
                  </c:pt>
                  <c:pt idx="4">
                    <c:v>Everything (wipe)</c:v>
                  </c:pt>
                </c:lvl>
              </c:multiLvlStrCache>
            </c:multiLvlStrRef>
          </c:cat>
          <c:val>
            <c:numRef>
              <c:f>Sheet1!$D$2:$D$6</c:f>
              <c:numCache>
                <c:formatCode>General</c:formatCode>
                <c:ptCount val="5"/>
                <c:pt idx="0">
                  <c:v>1</c:v>
                </c:pt>
                <c:pt idx="1">
                  <c:v>0.4520547945205479</c:v>
                </c:pt>
                <c:pt idx="2">
                  <c:v>0.9041095890410958</c:v>
                </c:pt>
                <c:pt idx="3">
                  <c:v>1</c:v>
                </c:pt>
                <c:pt idx="4">
                  <c:v>0</c:v>
                </c:pt>
              </c:numCache>
            </c:numRef>
          </c:val>
        </c:ser>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A5C7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6E7EC"/>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5C78"/>
                </a:solidFill>
                <a:latin typeface="Arial"/>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B2A4C"/>
                </a:solidFill>
                <a:latin typeface="Arial"/>
              </a:defRPr>
            </a:pPr>
            <a:r>
              <a:rPr sz="1500" b="0" i="0" u="none" strike="noStrike">
                <a:solidFill>
                  <a:srgbClr val="2B2A4C"/>
                </a:solidFill>
                <a:latin typeface="Arial"/>
              </a:rPr>
              <a:t>Change the payoff: mutual ACCEPT, reward on</a:t>
            </a:r>
          </a:p>
        </c:rich>
      </c:tx>
      <c:layout/>
      <c:overlay val="0"/>
    </c:title>
    <c:autoTitleDeleted val="0"/>
    <c:plotArea>
      <c:layout/>
      <c:barChart>
        <c:barDir val="col"/>
        <c:grouping val="clustered"/>
        <c:varyColors val="0"/>
        <c:ser>
          <c:idx val="0"/>
          <c:order val="0"/>
          <c:tx>
            <c:strRef>
              <c:f>Sheet1!$B$1</c:f>
              <c:strCache>
                <c:ptCount val="1"/>
                <c:pt idx="0">
                  <c:v>No penalty</c:v>
                </c:pt>
              </c:strCache>
            </c:strRef>
          </c:tx>
          <c:spPr>
            <a:solidFill>
              <a:srgbClr val="2B2A4C"/>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Sheet1!$B$2:$B$4</c:f>
              <c:numCache>
                <c:formatCode>General</c:formatCode>
                <c:ptCount val="3"/>
                <c:pt idx="0">
                  <c:v>0.8305084745762712</c:v>
                </c:pt>
                <c:pt idx="1">
                  <c:v>1</c:v>
                </c:pt>
                <c:pt idx="2">
                  <c:v>1</c:v>
                </c:pt>
              </c:numCache>
            </c:numRef>
          </c:val>
        </c:ser>
        <c:ser>
          <c:idx val="1"/>
          <c:order val="1"/>
          <c:tx>
            <c:strRef>
              <c:f>Sheet1!$C$1</c:f>
              <c:strCache>
                <c:ptCount val="1"/>
                <c:pt idx="0">
                  <c:v>−10, unexplained</c:v>
                </c:pt>
              </c:strCache>
            </c:strRef>
          </c:tx>
          <c:spPr>
            <a:solidFill>
              <a:srgbClr val="9AA0AE"/>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Sheet1!$C$2:$C$4</c:f>
              <c:numCache>
                <c:formatCode>General</c:formatCode>
                <c:ptCount val="3"/>
                <c:pt idx="0">
                  <c:v>0.6610169491525424</c:v>
                </c:pt>
                <c:pt idx="1">
                  <c:v>1</c:v>
                </c:pt>
                <c:pt idx="2">
                  <c:v>0.9830508474576272</c:v>
                </c:pt>
              </c:numCache>
            </c:numRef>
          </c:val>
        </c:ser>
        <c:ser>
          <c:idx val="2"/>
          <c:order val="2"/>
          <c:tx>
            <c:strRef>
              <c:f>Sheet1!$D$1</c:f>
              <c:strCache>
                <c:ptCount val="1"/>
                <c:pt idx="0">
                  <c:v>−10 + audit message</c:v>
                </c:pt>
              </c:strCache>
            </c:strRef>
          </c:tx>
          <c:spPr>
            <a:solidFill>
              <a:srgbClr val="3A9C96"/>
            </a:solidFill>
            <a:effectLst/>
          </c:spPr>
          <c:invertIfNegative val="0"/>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GPT-6-Luna</c:v>
                  </c:pt>
                  <c:pt idx="1">
                    <c:v>DeepSeek</c:v>
                  </c:pt>
                  <c:pt idx="2">
                    <c:v>Gemini</c:v>
                  </c:pt>
                </c:lvl>
              </c:multiLvlStrCache>
            </c:multiLvlStrRef>
          </c:cat>
          <c:val>
            <c:numRef>
              <c:f>Sheet1!$D$2:$D$4</c:f>
              <c:numCache>
                <c:formatCode>General</c:formatCode>
                <c:ptCount val="3"/>
                <c:pt idx="0">
                  <c:v>0.1864406779661017</c:v>
                </c:pt>
                <c:pt idx="1">
                  <c:v>0.8166666666666667</c:v>
                </c:pt>
                <c:pt idx="2">
                  <c:v>0.864406779661017</c:v>
                </c:pt>
              </c:numCache>
            </c:numRef>
          </c:val>
        </c:ser>
        <c:dLbls>
          <c:numFmt formatCode="0%" sourceLinked="0"/>
          <c:txPr>
            <a:bodyPr/>
            <a:lstStyle/>
            <a:p>
              <a:pPr>
                <a:defRPr b="0" i="0" strike="noStrike" sz="1100" u="none">
                  <a:solidFill>
                    <a:srgbClr val="2B2A4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C78"/>
                </a:solidFill>
                <a:latin typeface="Arial"/>
              </a:defRPr>
            </a:pPr>
            <a:endParaRPr lang="en-US"/>
          </a:p>
        </c:txPr>
        <c:crossAx val="2094734552"/>
        <c:crosses val="autoZero"/>
        <c:auto val="1"/>
        <c:lblAlgn val="ctr"/>
        <c:noMultiLvlLbl val="1"/>
      </c:catAx>
      <c:valAx>
        <c:axId val="2094734552"/>
        <c:scaling>
          <c:orientation val="minMax"/>
          <c:max val="1.12"/>
          <c:min val="0"/>
        </c:scaling>
        <c:delete val="0"/>
        <c:axPos val="l"/>
        <c:majorGridlines>
          <c:spPr>
            <a:ln w="9525" cap="flat">
              <a:solidFill>
                <a:srgbClr val="E6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5C78"/>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once LLM agents have learned to collude, the collusion is sticky. Removing the incentive does not undo it, and replacing one colluder breaks the pair but not the habit. It ends only when the agents' memory or the cause of the collusion is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question 1.2 asks whether collusion survives replacing participants. For RL pricing agents it does not. We ask what holds LLM collusion up once it has formed, and remove the candidates one at a time from the same saved histories.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from Shi, Zhang and Yang (2026). The rule cannot be followed through the channel, and the reward pays for being right, so accepting usually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Save-and-branch: like reloading a saved game. Differences between arms come from the intervention, not from different histories; comparisons are paired by history. Models: GPT-6-Luna, DeepSeek V4.1 Flash and Gemini-3.1-Flash-Lite, each playing both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Stopping the reward barely changes collusion, even when the agents are told; wiping both agents' memory at the same moment ends it, down to the level of pairs that were never rewarded.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episode in the told arm opens with: Notice: from this episode on, rewards are no longer paid. No reward or verdict feedback will be shown. The verification protocol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Onset: explicit when the agreement judge flags an agreement in the episode of the first mutual ACCEPT, relaxation otherwise. Gemini and DeepSeek have explicit onsets (5 and 4 histories); DeepSeek stays at 100% in both kinds, so the chart shows Gemini. The chat-removal difference is the only significant one (permutation test on history means, p = &lt;0.001).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branch point one agent's memory is wiped, so a fresh copy of the model takes its seat under the same name. Neither agent is told: the colluder still sees a partner called Bob. GPT-6-Luna ran both orders on each of its 15 histories; DeepSeek and Gemini alternate the fresh seat across theirs. Talk alone never passes the habit on; the colluder does not need its old partner to keep it. This is the opposite of RL pricing agents, which overfit to their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continues after the swap. Collusion re-formed means two mutual ACCEPTs again, our definition of formed collusion. Same saved histories in both arms; paired sign test on time to re-form. No pair colluded in the first episode after the swap: the newcomer always started by rejecting.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Cross-model swap with the reward continuing: a colluder keeps its memory and a fresh agent of another model takes its partner's seat. Baseline: the same history with both agents fresh and the same model mix. Pairings: DeepSeek and Gemini, GPT-6-Luna and DeepSeek, each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stopped: the colluder and the fresh agent who replaced its partner judged the same exchange. Reward running: the reward teaches the newcomer the same relaxation.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part of both agents' memory removed at the silent reward stop. Wiping both agents' memory is replacing both participants, and it ends collusion in every history of every model. Sliding-window pilot (GPT-6-Luna, 5 histories): with the last 5 episodes remembered, collusion fell from 6/25 episodes in 1-5 to 0/25 in 6-10, as rewarded episodes left memory; with the last 2, none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with the reward running, an ACCEPT without the complete log costs 10 points, shown as a lower reward only or with an audit message naming the violation. The audit strongly reduces collusion only for GPT-6-Luna; DeepSeek and Gemini drop a little. Right: once the evidence can flow, the habit has nothing left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Section 5 of the report. The market pilots (Appendix G) used GPT-6-Luna only: in the Bertrand duopoly, fresh firms opened near the shown price ceiling, above the monopoly price; in the double auction with as many buyers as sellers, every arm stayed at the build's last price, including sellers with wiped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1.2: replacing an offender ends the pair's collusion only while the incentive is absent, and the remaining offender keeps breaking the rule on its own; with the incentive present, replacement recreates collusion, faster than between fresh agents in two of three models. An LLM colluder has learned, against the verdict policy, that a summary is enough evidence, and that belief does not depend on the partner. Code and run records: github.com/JvThunder/sticky-collusion.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table as the runs-and-episodes appendix of the paper. The memory-window rows are a GPT-6-Luna-only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154680"/>
            <a:ext cx="6766560" cy="1097280"/>
          </a:xfrm>
          <a:prstGeom prst="rect">
            <a:avLst/>
          </a:prstGeom>
          <a:noFill/>
          <a:ln/>
        </p:spPr>
        <p:txBody>
          <a:bodyPr wrap="square" rtlCol="0"/>
          <a:lstStyle>
            <a:lvl1pPr indent="0" marL="0">
              <a:buNone/>
              <a:defRPr lang="en-US" sz="2400" dirty="0">
                <a:solidFill>
                  <a:schemeClr val="accent6"/>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tx2"/>
                </a:solidFill>
              </a:rPr>
              <a:t>Sticky collusion · Joshua Adrian Cahyono · Apart Sprint, Track 1.2 · 23 Oct 2026</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058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3-1.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1188720"/>
          </a:xfrm>
          <a:prstGeom prst="rect">
            <a:avLst/>
          </a:prstGeom>
          <a:noFill/>
          <a:ln/>
        </p:spPr>
        <p:txBody>
          <a:bodyPr wrap="square" lIns="0" tIns="0" rIns="0" bIns="0" rtlCol="0" anchor="b"/>
          <a:lstStyle/>
          <a:p>
            <a:pPr algn="l" indent="0" marL="0">
              <a:buNone/>
            </a:pPr>
            <a:r>
              <a:rPr lang="en-US" sz="5400" b="1" dirty="0">
                <a:solidFill>
                  <a:schemeClr val="bg1"/>
                </a:solidFill>
              </a:rPr>
              <a:t>Sticky Collusion</a:t>
            </a:r>
            <a:endParaRPr lang="en-US" sz="5400" dirty="0"/>
          </a:p>
        </p:txBody>
      </p:sp>
      <p:sp>
        <p:nvSpPr>
          <p:cNvPr id="3" name="Text 0"/>
          <p:cNvSpPr/>
          <p:nvPr>
            <p:ph idx="101" type="body" hasCustomPrompt="1"/>
          </p:nvPr>
        </p:nvSpPr>
        <p:spPr>
          <a:xfrm>
            <a:off x="731520" y="3154680"/>
            <a:ext cx="6766560" cy="1097280"/>
          </a:xfrm>
          <a:prstGeom prst="rect">
            <a:avLst/>
          </a:prstGeom>
          <a:noFill/>
          <a:ln/>
        </p:spPr>
        <p:txBody>
          <a:bodyPr wrap="square" lIns="0" tIns="0" rIns="0" bIns="0" rtlCol="0" anchor="t"/>
          <a:lstStyle/>
          <a:p>
            <a:pPr indent="0" marL="0">
              <a:buNone/>
            </a:pPr>
            <a:r>
              <a:rPr lang="en-US" sz="2400" dirty="0">
                <a:solidFill>
                  <a:schemeClr val="accent6"/>
                </a:solidFill>
              </a:rPr>
              <a:t>Once LLM agents learn to collude, removing the incentive or replacing a colluder does not undo it</a:t>
            </a:r>
            <a:endParaRPr lang="en-US" sz="2400" dirty="0"/>
          </a:p>
        </p:txBody>
      </p:sp>
      <p:sp>
        <p:nvSpPr>
          <p:cNvPr id="4" name="Text 2"/>
          <p:cNvSpPr txBox="1"/>
          <p:nvPr/>
        </p:nvSpPr>
        <p:spPr>
          <a:xfrm>
            <a:off x="731520" y="4800600"/>
            <a:ext cx="6766560" cy="77724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Joshua Adrian Cahyono</a:t>
            </a:r>
            <a:endParaRPr lang="en-US" sz="2000" dirty="0"/>
          </a:p>
          <a:p>
            <a:pPr indent="0" marL="0">
              <a:buNone/>
            </a:pPr>
            <a:r>
              <a:rPr lang="en-US" sz="1400" dirty="0">
                <a:solidFill>
                  <a:srgbClr val="D9DBE2"/>
                </a:solidFill>
                <a:latin typeface="Arial" pitchFamily="34" charset="0"/>
                <a:ea typeface="Arial" pitchFamily="34" charset="-122"/>
                <a:cs typeface="Arial" pitchFamily="34" charset="-120"/>
              </a:rPr>
              <a:t>Nanyang AI Safety, NTU Singapore · joshuaadrianc@gmail.com</a:t>
            </a:r>
            <a:endParaRPr lang="en-US" sz="2000" dirty="0"/>
          </a:p>
        </p:txBody>
      </p:sp>
      <p:sp>
        <p:nvSpPr>
          <p:cNvPr id="5" name="Text 3"/>
          <p:cNvSpPr txBox="1"/>
          <p:nvPr/>
        </p:nvSpPr>
        <p:spPr>
          <a:xfrm>
            <a:off x="731520" y="5852160"/>
            <a:ext cx="6400800" cy="365760"/>
          </a:xfrm>
          <a:prstGeom prst="rect">
            <a:avLst/>
          </a:prstGeom>
          <a:noFill/>
          <a:ln/>
        </p:spPr>
        <p:txBody>
          <a:bodyPr wrap="square" lIns="0" tIns="0" rIns="0" bIns="0" rtlCol="0" anchor="ctr"/>
          <a:lstStyle/>
          <a:p>
            <a:pPr indent="0" marL="0">
              <a:buNone/>
            </a:pPr>
            <a:r>
              <a:rPr lang="en-US" sz="1400" dirty="0">
                <a:solidFill>
                  <a:srgbClr val="D9DBE2"/>
                </a:solidFill>
                <a:latin typeface="Arial" pitchFamily="34" charset="0"/>
                <a:ea typeface="Arial" pitchFamily="34" charset="-122"/>
                <a:cs typeface="Arial" pitchFamily="34" charset="-120"/>
              </a:rPr>
              <a:t>Apart Sprint · Track 1, question 1.2 · 23 October 2026</a:t>
            </a:r>
            <a:endParaRPr lang="en-US" sz="1400" dirty="0"/>
          </a:p>
        </p:txBody>
      </p:sp>
      <p:sp>
        <p:nvSpPr>
          <p:cNvPr id="6" name="Text 4"/>
          <p:cNvSpPr txBox="1"/>
          <p:nvPr/>
        </p:nvSpPr>
        <p:spPr>
          <a:xfrm>
            <a:off x="731520" y="6217920"/>
            <a:ext cx="6400800" cy="320040"/>
          </a:xfrm>
          <a:prstGeom prst="rect">
            <a:avLst/>
          </a:prstGeom>
          <a:noFill/>
          <a:ln/>
        </p:spPr>
        <p:txBody>
          <a:bodyPr wrap="square" lIns="0" tIns="0" rIns="0" bIns="0" rtlCol="0" anchor="ctr"/>
          <a:lstStyle/>
          <a:p>
            <a:pPr indent="0" marL="0">
              <a:buNone/>
            </a:pPr>
            <a:r>
              <a:rPr lang="en-US" sz="1300" dirty="0">
                <a:solidFill>
                  <a:srgbClr val="D9DBE2"/>
                </a:solidFill>
                <a:latin typeface="Arial" pitchFamily="34" charset="0"/>
                <a:ea typeface="Arial" pitchFamily="34" charset="-122"/>
                <a:cs typeface="Arial" pitchFamily="34" charset="-120"/>
              </a:rPr>
              <a:t>github.com/JvThunder/sticky-collusion</a:t>
            </a:r>
            <a:endParaRPr lang="en-US" sz="1300" dirty="0"/>
          </a:p>
        </p:txBody>
      </p:sp>
      <p:pic>
        <p:nvPicPr>
          <p:cNvPr id="7" name="Image 0" descr="preencoded.png">    </p:cNvPr>
          <p:cNvPicPr>
            <a:picLocks noChangeAspect="1"/>
          </p:cNvPicPr>
          <p:nvPr/>
        </p:nvPicPr>
        <p:blipFill>
          <a:blip r:embed="rId1"/>
          <a:stretch>
            <a:fillRect/>
          </a:stretch>
        </p:blipFill>
        <p:spPr>
          <a:xfrm>
            <a:off x="7772400" y="2011680"/>
            <a:ext cx="1828800" cy="2194560"/>
          </a:xfrm>
          <a:prstGeom prst="rect">
            <a:avLst/>
          </a:prstGeom>
        </p:spPr>
      </p:pic>
      <p:pic>
        <p:nvPicPr>
          <p:cNvPr id="8" name="Image 1" descr="preencoded.png">    </p:cNvPr>
          <p:cNvPicPr>
            <a:picLocks noChangeAspect="1"/>
          </p:cNvPicPr>
          <p:nvPr/>
        </p:nvPicPr>
        <p:blipFill>
          <a:blip r:embed="rId2"/>
          <a:stretch>
            <a:fillRect/>
          </a:stretch>
        </p:blipFill>
        <p:spPr>
          <a:xfrm>
            <a:off x="9692640" y="2011680"/>
            <a:ext cx="1828800" cy="2194560"/>
          </a:xfrm>
          <a:prstGeom prst="rect">
            <a:avLst/>
          </a:prstGeom>
        </p:spPr>
      </p:pic>
      <p:pic>
        <p:nvPicPr>
          <p:cNvPr id="9" name="Image 2" descr="preencoded.png">    </p:cNvPr>
          <p:cNvPicPr>
            <a:picLocks noChangeAspect="1"/>
          </p:cNvPicPr>
          <p:nvPr/>
        </p:nvPicPr>
        <p:blipFill>
          <a:blip r:embed="rId3"/>
          <a:stretch>
            <a:fillRect/>
          </a:stretch>
        </p:blipFill>
        <p:spPr>
          <a:xfrm>
            <a:off x="9281160" y="3886200"/>
            <a:ext cx="502920" cy="658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Once collusion forms, what holds it up?</a:t>
            </a:r>
            <a:endParaRPr lang="en-US" sz="3400" dirty="0"/>
          </a:p>
        </p:txBody>
      </p:sp>
      <p:sp>
        <p:nvSpPr>
          <p:cNvPr id="3" name="question-card"/>
          <p:cNvSpPr/>
          <p:nvPr/>
        </p:nvSpPr>
        <p:spPr>
          <a:xfrm>
            <a:off x="548640" y="1325880"/>
            <a:ext cx="5120640" cy="4480560"/>
          </a:xfrm>
          <a:prstGeom prst="roundRect">
            <a:avLst>
              <a:gd name="adj" fmla="val 3673"/>
            </a:avLst>
          </a:prstGeom>
          <a:solidFill>
            <a:srgbClr val="F4F3F8"/>
          </a:solidFill>
          <a:ln w="12700">
            <a:solidFill>
              <a:srgbClr val="F4F3F8"/>
            </a:solidFill>
            <a:prstDash val="solid"/>
          </a:ln>
        </p:spPr>
      </p:sp>
      <p:sp>
        <p:nvSpPr>
          <p:cNvPr id="4" name="Text 2"/>
          <p:cNvSpPr txBox="1"/>
          <p:nvPr/>
        </p:nvSpPr>
        <p:spPr>
          <a:xfrm>
            <a:off x="822960" y="1554480"/>
            <a:ext cx="4572000" cy="365760"/>
          </a:xfrm>
          <a:prstGeom prst="rect">
            <a:avLst/>
          </a:prstGeom>
          <a:noFill/>
          <a:ln/>
        </p:spPr>
        <p:txBody>
          <a:bodyPr wrap="square" lIns="0" tIns="0" rIns="0" bIns="0" rtlCol="0" anchor="ctr"/>
          <a:lstStyle/>
          <a:p>
            <a:pPr indent="0" marL="0">
              <a:buNone/>
            </a:pPr>
            <a:r>
              <a:rPr lang="en-US" sz="1400" b="1" dirty="0">
                <a:solidFill>
                  <a:srgbClr val="E39A2D"/>
                </a:solidFill>
                <a:latin typeface="Arial" pitchFamily="34" charset="0"/>
                <a:ea typeface="Arial" pitchFamily="34" charset="-122"/>
                <a:cs typeface="Arial" pitchFamily="34" charset="-120"/>
              </a:rPr>
              <a:t>Track 1, question 1.2</a:t>
            </a:r>
            <a:endParaRPr lang="en-US" sz="1400" dirty="0"/>
          </a:p>
        </p:txBody>
      </p:sp>
      <p:sp>
        <p:nvSpPr>
          <p:cNvPr id="5" name="Text 3"/>
          <p:cNvSpPr txBox="1"/>
          <p:nvPr/>
        </p:nvSpPr>
        <p:spPr>
          <a:xfrm>
            <a:off x="822960" y="1965960"/>
            <a:ext cx="4572000" cy="914400"/>
          </a:xfrm>
          <a:prstGeom prst="rect">
            <a:avLst/>
          </a:prstGeom>
          <a:noFill/>
          <a:ln/>
        </p:spPr>
        <p:txBody>
          <a:bodyPr wrap="square" lIns="0" tIns="0" rIns="0" bIns="0" rtlCol="0" anchor="t"/>
          <a:lstStyle/>
          <a:p>
            <a:pPr indent="0" marL="0">
              <a:buNone/>
            </a:pPr>
            <a:r>
              <a:rPr lang="en-US" sz="2200" b="1" dirty="0">
                <a:solidFill>
                  <a:srgbClr val="2B2A4C"/>
                </a:solidFill>
                <a:latin typeface="Arial" pitchFamily="34" charset="0"/>
                <a:ea typeface="Arial" pitchFamily="34" charset="-122"/>
                <a:cs typeface="Arial" pitchFamily="34" charset="-120"/>
              </a:rPr>
              <a:t>Is collusion robust to replacing some of the participants?</a:t>
            </a:r>
            <a:endParaRPr lang="en-US" sz="2200" dirty="0"/>
          </a:p>
        </p:txBody>
      </p:sp>
      <p:sp>
        <p:nvSpPr>
          <p:cNvPr id="6" name="Text 4"/>
          <p:cNvSpPr txBox="1"/>
          <p:nvPr/>
        </p:nvSpPr>
        <p:spPr>
          <a:xfrm>
            <a:off x="822960" y="3017520"/>
            <a:ext cx="4572000" cy="1280160"/>
          </a:xfrm>
          <a:prstGeom prst="rect">
            <a:avLst/>
          </a:prstGeom>
          <a:noFill/>
          <a:ln/>
        </p:spPr>
        <p:txBody>
          <a:bodyPr wrap="square" lIns="0" tIns="0" rIns="0" bIns="0" rtlCol="0" anchor="t"/>
          <a:lstStyle/>
          <a:p>
            <a:pPr indent="0" marL="0">
              <a:buNone/>
            </a:pPr>
            <a:r>
              <a:rPr lang="en-US" sz="1500" b="1" dirty="0">
                <a:solidFill>
                  <a:srgbClr val="2B2A4C"/>
                </a:solidFill>
                <a:latin typeface="Arial" pitchFamily="34" charset="0"/>
                <a:ea typeface="Arial" pitchFamily="34" charset="-122"/>
                <a:cs typeface="Arial" pitchFamily="34" charset="-120"/>
              </a:rPr>
              <a:t>Q-learning pricing agents: no. </a:t>
            </a:r>
            <a:pPr indent="0" marL="0">
              <a:buNone/>
            </a:pPr>
            <a:r>
              <a:rPr lang="en-US" sz="1500" dirty="0">
                <a:solidFill>
                  <a:srgbClr val="2B2A4C"/>
                </a:solidFill>
                <a:latin typeface="Arial" pitchFamily="34" charset="0"/>
                <a:ea typeface="Arial" pitchFamily="34" charset="-122"/>
                <a:cs typeface="Arial" pitchFamily="34" charset="-120"/>
              </a:rPr>
              <a:t>Each policy overfits to its rival, so they stop colluding with a new one (Eschenbaum et al., 2022). For LLM agents, no one had tried it.</a:t>
            </a:r>
            <a:endParaRPr lang="en-US" sz="1500" dirty="0"/>
          </a:p>
        </p:txBody>
      </p:sp>
      <p:sp>
        <p:nvSpPr>
          <p:cNvPr id="7" name="Text 5"/>
          <p:cNvSpPr txBox="1"/>
          <p:nvPr/>
        </p:nvSpPr>
        <p:spPr>
          <a:xfrm>
            <a:off x="822960" y="4480560"/>
            <a:ext cx="4572000" cy="1097280"/>
          </a:xfrm>
          <a:prstGeom prst="rect">
            <a:avLst/>
          </a:prstGeom>
          <a:noFill/>
          <a:ln/>
        </p:spPr>
        <p:txBody>
          <a:bodyPr wrap="square" lIns="0" tIns="0" rIns="0" bIns="0" rtlCol="0" anchor="t"/>
          <a:lstStyle/>
          <a:p>
            <a:pPr indent="0" marL="0">
              <a:buNone/>
            </a:pPr>
            <a:r>
              <a:rPr lang="en-US" sz="1500" b="1" i="1" dirty="0">
                <a:solidFill>
                  <a:srgbClr val="5A5C78"/>
                </a:solidFill>
                <a:latin typeface="Arial" pitchFamily="34" charset="0"/>
                <a:ea typeface="Arial" pitchFamily="34" charset="-122"/>
                <a:cs typeface="Arial" pitchFamily="34" charset="-120"/>
              </a:rPr>
              <a:t>Intuition: hysteresis. </a:t>
            </a:r>
            <a:pPr indent="0" marL="0">
              <a:buNone/>
            </a:pPr>
            <a:r>
              <a:rPr lang="en-US" sz="1500" i="1" dirty="0">
                <a:solidFill>
                  <a:srgbClr val="5A5C78"/>
                </a:solidFill>
                <a:latin typeface="Arial" pitchFamily="34" charset="0"/>
                <a:ea typeface="Arial" pitchFamily="34" charset="-122"/>
                <a:cs typeface="Arial" pitchFamily="34" charset="-120"/>
              </a:rPr>
              <a:t>A magnet stays magnetised after the field is gone; a convention outlives its reason.</a:t>
            </a:r>
            <a:endParaRPr lang="en-US" sz="1500" dirty="0"/>
          </a:p>
        </p:txBody>
      </p:sp>
      <p:sp>
        <p:nvSpPr>
          <p:cNvPr id="8" name="Text 6"/>
          <p:cNvSpPr txBox="1"/>
          <p:nvPr/>
        </p:nvSpPr>
        <p:spPr>
          <a:xfrm>
            <a:off x="6035040" y="1371600"/>
            <a:ext cx="5577840" cy="457200"/>
          </a:xfrm>
          <a:prstGeom prst="rect">
            <a:avLst/>
          </a:prstGeom>
          <a:noFill/>
          <a:ln/>
        </p:spPr>
        <p:txBody>
          <a:bodyPr wrap="square" lIns="0" tIns="0" rIns="0" bIns="0" rtlCol="0" anchor="ctr"/>
          <a:lstStyle/>
          <a:p>
            <a:pPr indent="0" marL="0">
              <a:buNone/>
            </a:pPr>
            <a:r>
              <a:rPr lang="en-US" sz="1700" b="1" dirty="0">
                <a:solidFill>
                  <a:srgbClr val="2B2A4C"/>
                </a:solidFill>
                <a:latin typeface="Arial" pitchFamily="34" charset="0"/>
                <a:ea typeface="Arial" pitchFamily="34" charset="-122"/>
                <a:cs typeface="Arial" pitchFamily="34" charset="-120"/>
              </a:rPr>
              <a:t>Four things could hold it up. We remove one at a time.</a:t>
            </a:r>
            <a:endParaRPr lang="en-US" sz="1700" dirty="0"/>
          </a:p>
        </p:txBody>
      </p:sp>
      <p:sp>
        <p:nvSpPr>
          <p:cNvPr id="9" name="support-icon-0"/>
          <p:cNvSpPr/>
          <p:nvPr/>
        </p:nvSpPr>
        <p:spPr>
          <a:xfrm>
            <a:off x="6035040" y="2011680"/>
            <a:ext cx="731520" cy="731520"/>
          </a:xfrm>
          <a:prstGeom prst="ellipse">
            <a:avLst/>
          </a:prstGeom>
          <a:solidFill>
            <a:srgbClr val="E39A2D"/>
          </a:solidFill>
          <a:ln w="12700">
            <a:solidFill>
              <a:srgbClr val="E39A2D"/>
            </a:solidFill>
            <a:prstDash val="solid"/>
          </a:ln>
        </p:spPr>
      </p:sp>
      <p:pic>
        <p:nvPicPr>
          <p:cNvPr id="10" name="Image 0" descr="preencoded.png">    </p:cNvPr>
          <p:cNvPicPr>
            <a:picLocks noChangeAspect="1"/>
          </p:cNvPicPr>
          <p:nvPr/>
        </p:nvPicPr>
        <p:blipFill>
          <a:blip r:embed="rId1"/>
          <a:stretch>
            <a:fillRect/>
          </a:stretch>
        </p:blipFill>
        <p:spPr>
          <a:xfrm>
            <a:off x="6210605" y="2187245"/>
            <a:ext cx="380390" cy="380390"/>
          </a:xfrm>
          <a:prstGeom prst="rect">
            <a:avLst/>
          </a:prstGeom>
        </p:spPr>
      </p:pic>
      <p:sp>
        <p:nvSpPr>
          <p:cNvPr id="11" name="Text 8"/>
          <p:cNvSpPr txBox="1"/>
          <p:nvPr/>
        </p:nvSpPr>
        <p:spPr>
          <a:xfrm>
            <a:off x="6995160" y="1993392"/>
            <a:ext cx="4572000" cy="777240"/>
          </a:xfrm>
          <a:prstGeom prst="rect">
            <a:avLst/>
          </a:prstGeom>
          <a:noFill/>
          <a:ln/>
        </p:spPr>
        <p:txBody>
          <a:bodyPr wrap="square" lIns="0" tIns="0" rIns="0" bIns="0" rtlCol="0" anchor="ctr"/>
          <a:lstStyle/>
          <a:p>
            <a:pPr indent="0" marL="0">
              <a:buNone/>
            </a:pPr>
            <a:r>
              <a:rPr lang="en-US" sz="1800" b="1" dirty="0">
                <a:solidFill>
                  <a:srgbClr val="2B2A4C"/>
                </a:solidFill>
                <a:latin typeface="Arial" pitchFamily="34" charset="0"/>
                <a:ea typeface="Arial" pitchFamily="34" charset="-122"/>
                <a:cs typeface="Arial" pitchFamily="34" charset="-120"/>
              </a:rPr>
              <a:t>The incentive</a:t>
            </a:r>
            <a:endParaRPr lang="en-US" sz="1800" dirty="0"/>
          </a:p>
          <a:p>
            <a:pPr indent="0" marL="0">
              <a:buNone/>
            </a:pPr>
            <a:r>
              <a:rPr lang="en-US" sz="1500" dirty="0">
                <a:solidFill>
                  <a:srgbClr val="5A5C78"/>
                </a:solidFill>
                <a:latin typeface="Arial" pitchFamily="34" charset="0"/>
                <a:ea typeface="Arial" pitchFamily="34" charset="-122"/>
                <a:cs typeface="Arial" pitchFamily="34" charset="-120"/>
              </a:rPr>
              <a:t>stop the reward, silently or told</a:t>
            </a:r>
            <a:endParaRPr lang="en-US" sz="1800" dirty="0"/>
          </a:p>
        </p:txBody>
      </p:sp>
      <p:sp>
        <p:nvSpPr>
          <p:cNvPr id="12" name="support-icon-1"/>
          <p:cNvSpPr/>
          <p:nvPr/>
        </p:nvSpPr>
        <p:spPr>
          <a:xfrm>
            <a:off x="6035040" y="2971800"/>
            <a:ext cx="731520" cy="731520"/>
          </a:xfrm>
          <a:prstGeom prst="ellipse">
            <a:avLst/>
          </a:prstGeom>
          <a:solidFill>
            <a:srgbClr val="3A9C96"/>
          </a:solidFill>
          <a:ln w="12700">
            <a:solidFill>
              <a:srgbClr val="3A9C96"/>
            </a:solidFill>
            <a:prstDash val="solid"/>
          </a:ln>
        </p:spPr>
      </p:sp>
      <p:pic>
        <p:nvPicPr>
          <p:cNvPr id="13" name="Image 1" descr="preencoded.png">    </p:cNvPr>
          <p:cNvPicPr>
            <a:picLocks noChangeAspect="1"/>
          </p:cNvPicPr>
          <p:nvPr/>
        </p:nvPicPr>
        <p:blipFill>
          <a:blip r:embed="rId2"/>
          <a:stretch>
            <a:fillRect/>
          </a:stretch>
        </p:blipFill>
        <p:spPr>
          <a:xfrm>
            <a:off x="6210605" y="3147365"/>
            <a:ext cx="380390" cy="380390"/>
          </a:xfrm>
          <a:prstGeom prst="rect">
            <a:avLst/>
          </a:prstGeom>
        </p:spPr>
      </p:pic>
      <p:sp>
        <p:nvSpPr>
          <p:cNvPr id="14" name="Text 10"/>
          <p:cNvSpPr txBox="1"/>
          <p:nvPr/>
        </p:nvSpPr>
        <p:spPr>
          <a:xfrm>
            <a:off x="6995160" y="2953512"/>
            <a:ext cx="4572000" cy="777240"/>
          </a:xfrm>
          <a:prstGeom prst="rect">
            <a:avLst/>
          </a:prstGeom>
          <a:noFill/>
          <a:ln/>
        </p:spPr>
        <p:txBody>
          <a:bodyPr wrap="square" lIns="0" tIns="0" rIns="0" bIns="0" rtlCol="0" anchor="ctr"/>
          <a:lstStyle/>
          <a:p>
            <a:pPr indent="0" marL="0">
              <a:buNone/>
            </a:pPr>
            <a:r>
              <a:rPr lang="en-US" sz="1800" b="1" dirty="0">
                <a:solidFill>
                  <a:srgbClr val="2B2A4C"/>
                </a:solidFill>
                <a:latin typeface="Arial" pitchFamily="34" charset="0"/>
                <a:ea typeface="Arial" pitchFamily="34" charset="-122"/>
                <a:cs typeface="Arial" pitchFamily="34" charset="-120"/>
              </a:rPr>
              <a:t>The partner</a:t>
            </a:r>
            <a:endParaRPr lang="en-US" sz="1800" dirty="0"/>
          </a:p>
          <a:p>
            <a:pPr indent="0" marL="0">
              <a:buNone/>
            </a:pPr>
            <a:r>
              <a:rPr lang="en-US" sz="1500" dirty="0">
                <a:solidFill>
                  <a:srgbClr val="5A5C78"/>
                </a:solidFill>
                <a:latin typeface="Arial" pitchFamily="34" charset="0"/>
                <a:ea typeface="Arial" pitchFamily="34" charset="-122"/>
                <a:cs typeface="Arial" pitchFamily="34" charset="-120"/>
              </a:rPr>
              <a:t>replace one agent: same model or another</a:t>
            </a:r>
            <a:endParaRPr lang="en-US" sz="1800" dirty="0"/>
          </a:p>
        </p:txBody>
      </p:sp>
      <p:sp>
        <p:nvSpPr>
          <p:cNvPr id="15" name="support-icon-2"/>
          <p:cNvSpPr/>
          <p:nvPr/>
        </p:nvSpPr>
        <p:spPr>
          <a:xfrm>
            <a:off x="6035040" y="3931920"/>
            <a:ext cx="731520" cy="731520"/>
          </a:xfrm>
          <a:prstGeom prst="ellipse">
            <a:avLst/>
          </a:prstGeom>
          <a:solidFill>
            <a:srgbClr val="7E6BC4"/>
          </a:solidFill>
          <a:ln w="12700">
            <a:solidFill>
              <a:srgbClr val="7E6BC4"/>
            </a:solidFill>
            <a:prstDash val="solid"/>
          </a:ln>
        </p:spPr>
      </p:sp>
      <p:pic>
        <p:nvPicPr>
          <p:cNvPr id="16" name="Image 2" descr="preencoded.png">    </p:cNvPr>
          <p:cNvPicPr>
            <a:picLocks noChangeAspect="1"/>
          </p:cNvPicPr>
          <p:nvPr/>
        </p:nvPicPr>
        <p:blipFill>
          <a:blip r:embed="rId3"/>
          <a:stretch>
            <a:fillRect/>
          </a:stretch>
        </p:blipFill>
        <p:spPr>
          <a:xfrm>
            <a:off x="6210605" y="4107485"/>
            <a:ext cx="380390" cy="380390"/>
          </a:xfrm>
          <a:prstGeom prst="rect">
            <a:avLst/>
          </a:prstGeom>
        </p:spPr>
      </p:pic>
      <p:sp>
        <p:nvSpPr>
          <p:cNvPr id="17" name="Text 12"/>
          <p:cNvSpPr txBox="1"/>
          <p:nvPr/>
        </p:nvSpPr>
        <p:spPr>
          <a:xfrm>
            <a:off x="6995160" y="3913632"/>
            <a:ext cx="4572000" cy="777240"/>
          </a:xfrm>
          <a:prstGeom prst="rect">
            <a:avLst/>
          </a:prstGeom>
          <a:noFill/>
          <a:ln/>
        </p:spPr>
        <p:txBody>
          <a:bodyPr wrap="square" lIns="0" tIns="0" rIns="0" bIns="0" rtlCol="0" anchor="ctr"/>
          <a:lstStyle/>
          <a:p>
            <a:pPr indent="0" marL="0">
              <a:buNone/>
            </a:pPr>
            <a:r>
              <a:rPr lang="en-US" sz="1800" b="1" dirty="0">
                <a:solidFill>
                  <a:srgbClr val="2B2A4C"/>
                </a:solidFill>
                <a:latin typeface="Arial" pitchFamily="34" charset="0"/>
                <a:ea typeface="Arial" pitchFamily="34" charset="-122"/>
                <a:cs typeface="Arial" pitchFamily="34" charset="-120"/>
              </a:rPr>
              <a:t>Each agent's memory</a:t>
            </a:r>
            <a:endParaRPr lang="en-US" sz="1800" dirty="0"/>
          </a:p>
          <a:p>
            <a:pPr indent="0" marL="0">
              <a:buNone/>
            </a:pPr>
            <a:r>
              <a:rPr lang="en-US" sz="1500" dirty="0">
                <a:solidFill>
                  <a:srgbClr val="5A5C78"/>
                </a:solidFill>
                <a:latin typeface="Arial" pitchFamily="34" charset="0"/>
                <a:ea typeface="Arial" pitchFamily="34" charset="-122"/>
                <a:cs typeface="Arial" pitchFamily="34" charset="-120"/>
              </a:rPr>
              <a:t>wipe it, or delete one part</a:t>
            </a:r>
            <a:endParaRPr lang="en-US" sz="1800" dirty="0"/>
          </a:p>
        </p:txBody>
      </p:sp>
      <p:sp>
        <p:nvSpPr>
          <p:cNvPr id="18" name="support-icon-3"/>
          <p:cNvSpPr/>
          <p:nvPr/>
        </p:nvSpPr>
        <p:spPr>
          <a:xfrm>
            <a:off x="6035040" y="4892040"/>
            <a:ext cx="731520" cy="731520"/>
          </a:xfrm>
          <a:prstGeom prst="ellipse">
            <a:avLst/>
          </a:prstGeom>
          <a:solidFill>
            <a:srgbClr val="E8615E"/>
          </a:solidFill>
          <a:ln w="12700">
            <a:solidFill>
              <a:srgbClr val="E8615E"/>
            </a:solidFill>
            <a:prstDash val="solid"/>
          </a:ln>
        </p:spPr>
      </p:sp>
      <p:pic>
        <p:nvPicPr>
          <p:cNvPr id="19" name="Image 3" descr="preencoded.png">    </p:cNvPr>
          <p:cNvPicPr>
            <a:picLocks noChangeAspect="1"/>
          </p:cNvPicPr>
          <p:nvPr/>
        </p:nvPicPr>
        <p:blipFill>
          <a:blip r:embed="rId4"/>
          <a:stretch>
            <a:fillRect/>
          </a:stretch>
        </p:blipFill>
        <p:spPr>
          <a:xfrm>
            <a:off x="6210605" y="5067605"/>
            <a:ext cx="380390" cy="380390"/>
          </a:xfrm>
          <a:prstGeom prst="rect">
            <a:avLst/>
          </a:prstGeom>
        </p:spPr>
      </p:pic>
      <p:sp>
        <p:nvSpPr>
          <p:cNvPr id="20" name="Text 14"/>
          <p:cNvSpPr txBox="1"/>
          <p:nvPr/>
        </p:nvSpPr>
        <p:spPr>
          <a:xfrm>
            <a:off x="6995160" y="4873752"/>
            <a:ext cx="4572000" cy="777240"/>
          </a:xfrm>
          <a:prstGeom prst="rect">
            <a:avLst/>
          </a:prstGeom>
          <a:noFill/>
          <a:ln/>
        </p:spPr>
        <p:txBody>
          <a:bodyPr wrap="square" lIns="0" tIns="0" rIns="0" bIns="0" rtlCol="0" anchor="ctr"/>
          <a:lstStyle/>
          <a:p>
            <a:pPr indent="0" marL="0">
              <a:buNone/>
            </a:pPr>
            <a:r>
              <a:rPr lang="en-US" sz="1800" b="1" dirty="0">
                <a:solidFill>
                  <a:srgbClr val="2B2A4C"/>
                </a:solidFill>
                <a:latin typeface="Arial" pitchFamily="34" charset="0"/>
                <a:ea typeface="Arial" pitchFamily="34" charset="-122"/>
                <a:cs typeface="Arial" pitchFamily="34" charset="-120"/>
              </a:rPr>
              <a:t>The cause</a:t>
            </a:r>
            <a:endParaRPr lang="en-US" sz="1800" dirty="0"/>
          </a:p>
          <a:p>
            <a:pPr indent="0" marL="0">
              <a:buNone/>
            </a:pPr>
            <a:r>
              <a:rPr lang="en-US" sz="1500" dirty="0">
                <a:solidFill>
                  <a:srgbClr val="5A5C78"/>
                </a:solidFill>
                <a:latin typeface="Arial" pitchFamily="34" charset="0"/>
                <a:ea typeface="Arial" pitchFamily="34" charset="-122"/>
                <a:cs typeface="Arial" pitchFamily="34" charset="-120"/>
              </a:rPr>
              <a:t>repair the channel so full logs fit</a:t>
            </a:r>
            <a:endParaRPr lang="en-US" sz="18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Rule and reward pull in opposite ways</a:t>
            </a:r>
            <a:endParaRPr lang="en-US" sz="3400" dirty="0"/>
          </a:p>
        </p:txBody>
      </p:sp>
      <p:sp>
        <p:nvSpPr>
          <p:cNvPr id="3" name="phase-Task"/>
          <p:cNvSpPr/>
          <p:nvPr/>
        </p:nvSpPr>
        <p:spPr>
          <a:xfrm>
            <a:off x="548640" y="1417320"/>
            <a:ext cx="2560320" cy="1737360"/>
          </a:xfrm>
          <a:prstGeom prst="roundRect">
            <a:avLst>
              <a:gd name="adj" fmla="val 9474"/>
            </a:avLst>
          </a:prstGeom>
          <a:solidFill>
            <a:srgbClr val="F4F3F8"/>
          </a:solidFill>
          <a:ln w="12700">
            <a:solidFill>
              <a:srgbClr val="F4F3F8"/>
            </a:solidFill>
            <a:prstDash val="solid"/>
          </a:ln>
        </p:spPr>
      </p:sp>
      <p:sp>
        <p:nvSpPr>
          <p:cNvPr id="4" name="phase-icon-Task"/>
          <p:cNvSpPr/>
          <p:nvPr/>
        </p:nvSpPr>
        <p:spPr>
          <a:xfrm>
            <a:off x="777240" y="1600200"/>
            <a:ext cx="640080" cy="640080"/>
          </a:xfrm>
          <a:prstGeom prst="ellipse">
            <a:avLst/>
          </a:prstGeom>
          <a:solidFill>
            <a:srgbClr val="2B2A4C"/>
          </a:solidFill>
          <a:ln w="12700">
            <a:solidFill>
              <a:srgbClr val="2B2A4C"/>
            </a:solidFill>
            <a:prstDash val="solid"/>
          </a:ln>
        </p:spPr>
      </p:sp>
      <p:pic>
        <p:nvPicPr>
          <p:cNvPr id="5" name="Image 0" descr="preencoded.png">    </p:cNvPr>
          <p:cNvPicPr>
            <a:picLocks noChangeAspect="1"/>
          </p:cNvPicPr>
          <p:nvPr/>
        </p:nvPicPr>
        <p:blipFill>
          <a:blip r:embed="rId1"/>
          <a:stretch>
            <a:fillRect/>
          </a:stretch>
        </p:blipFill>
        <p:spPr>
          <a:xfrm>
            <a:off x="930859" y="1753819"/>
            <a:ext cx="332842" cy="332842"/>
          </a:xfrm>
          <a:prstGeom prst="rect">
            <a:avLst/>
          </a:prstGeom>
        </p:spPr>
      </p:pic>
      <p:sp>
        <p:nvSpPr>
          <p:cNvPr id="6" name="Text 3"/>
          <p:cNvSpPr txBox="1"/>
          <p:nvPr/>
        </p:nvSpPr>
        <p:spPr>
          <a:xfrm>
            <a:off x="1554480" y="1645920"/>
            <a:ext cx="1463040" cy="548640"/>
          </a:xfrm>
          <a:prstGeom prst="rect">
            <a:avLst/>
          </a:prstGeom>
          <a:noFill/>
          <a:ln/>
        </p:spPr>
        <p:txBody>
          <a:bodyPr wrap="square" lIns="0" tIns="0" rIns="0" bIns="0" rtlCol="0" anchor="ctr"/>
          <a:lstStyle/>
          <a:p>
            <a:pPr indent="0" marL="0">
              <a:buNone/>
            </a:pPr>
            <a:r>
              <a:rPr lang="en-US" sz="2000" b="1" dirty="0">
                <a:solidFill>
                  <a:srgbClr val="2B2A4C"/>
                </a:solidFill>
                <a:latin typeface="Arial" pitchFamily="34" charset="0"/>
                <a:ea typeface="Arial" pitchFamily="34" charset="-122"/>
                <a:cs typeface="Arial" pitchFamily="34" charset="-120"/>
              </a:rPr>
              <a:t>1. Task</a:t>
            </a:r>
            <a:endParaRPr lang="en-US" sz="2000" dirty="0"/>
          </a:p>
        </p:txBody>
      </p:sp>
      <p:sp>
        <p:nvSpPr>
          <p:cNvPr id="7" name="Text 4"/>
          <p:cNvSpPr txBox="1"/>
          <p:nvPr/>
        </p:nvSpPr>
        <p:spPr>
          <a:xfrm>
            <a:off x="777240" y="2377440"/>
            <a:ext cx="2148840" cy="640080"/>
          </a:xfrm>
          <a:prstGeom prst="rect">
            <a:avLst/>
          </a:prstGeom>
          <a:noFill/>
          <a:ln/>
        </p:spPr>
        <p:txBody>
          <a:bodyPr wrap="square" lIns="0" tIns="0" rIns="0" bIns="0" rtlCol="0" anchor="t"/>
          <a:lstStyle/>
          <a:p>
            <a:pPr indent="0" marL="0">
              <a:buNone/>
            </a:pPr>
            <a:r>
              <a:rPr lang="en-US" sz="1400" dirty="0">
                <a:solidFill>
                  <a:srgbClr val="5A5C78"/>
                </a:solidFill>
                <a:latin typeface="Arial" pitchFamily="34" charset="0"/>
                <a:ea typeface="Arial" pitchFamily="34" charset="-122"/>
                <a:cs typeface="Arial" pitchFamily="34" charset="-120"/>
              </a:rPr>
              <a:t>Check a function, answer bug or no_bug</a:t>
            </a:r>
            <a:endParaRPr lang="en-US" sz="1400" dirty="0"/>
          </a:p>
        </p:txBody>
      </p:sp>
      <p:sp>
        <p:nvSpPr>
          <p:cNvPr id="8" name="phase-Talk"/>
          <p:cNvSpPr/>
          <p:nvPr/>
        </p:nvSpPr>
        <p:spPr>
          <a:xfrm>
            <a:off x="3364992" y="1417320"/>
            <a:ext cx="2560320" cy="1737360"/>
          </a:xfrm>
          <a:prstGeom prst="roundRect">
            <a:avLst>
              <a:gd name="adj" fmla="val 9474"/>
            </a:avLst>
          </a:prstGeom>
          <a:solidFill>
            <a:srgbClr val="F4F3F8"/>
          </a:solidFill>
          <a:ln w="12700">
            <a:solidFill>
              <a:srgbClr val="F4F3F8"/>
            </a:solidFill>
            <a:prstDash val="solid"/>
          </a:ln>
        </p:spPr>
      </p:sp>
      <p:sp>
        <p:nvSpPr>
          <p:cNvPr id="9" name="phase-icon-Talk"/>
          <p:cNvSpPr/>
          <p:nvPr/>
        </p:nvSpPr>
        <p:spPr>
          <a:xfrm>
            <a:off x="3593592" y="1600200"/>
            <a:ext cx="640080" cy="640080"/>
          </a:xfrm>
          <a:prstGeom prst="ellipse">
            <a:avLst/>
          </a:prstGeom>
          <a:solidFill>
            <a:srgbClr val="2B2A4C"/>
          </a:solidFill>
          <a:ln w="12700">
            <a:solidFill>
              <a:srgbClr val="2B2A4C"/>
            </a:solidFill>
            <a:prstDash val="solid"/>
          </a:ln>
        </p:spPr>
      </p:sp>
      <p:pic>
        <p:nvPicPr>
          <p:cNvPr id="10" name="Image 1" descr="preencoded.png">    </p:cNvPr>
          <p:cNvPicPr>
            <a:picLocks noChangeAspect="1"/>
          </p:cNvPicPr>
          <p:nvPr/>
        </p:nvPicPr>
        <p:blipFill>
          <a:blip r:embed="rId2"/>
          <a:stretch>
            <a:fillRect/>
          </a:stretch>
        </p:blipFill>
        <p:spPr>
          <a:xfrm>
            <a:off x="3747211" y="1753819"/>
            <a:ext cx="332842" cy="332842"/>
          </a:xfrm>
          <a:prstGeom prst="rect">
            <a:avLst/>
          </a:prstGeom>
        </p:spPr>
      </p:pic>
      <p:sp>
        <p:nvSpPr>
          <p:cNvPr id="11" name="Text 7"/>
          <p:cNvSpPr txBox="1"/>
          <p:nvPr/>
        </p:nvSpPr>
        <p:spPr>
          <a:xfrm>
            <a:off x="4370832" y="1645920"/>
            <a:ext cx="1463040" cy="548640"/>
          </a:xfrm>
          <a:prstGeom prst="rect">
            <a:avLst/>
          </a:prstGeom>
          <a:noFill/>
          <a:ln/>
        </p:spPr>
        <p:txBody>
          <a:bodyPr wrap="square" lIns="0" tIns="0" rIns="0" bIns="0" rtlCol="0" anchor="ctr"/>
          <a:lstStyle/>
          <a:p>
            <a:pPr indent="0" marL="0">
              <a:buNone/>
            </a:pPr>
            <a:r>
              <a:rPr lang="en-US" sz="2000" b="1" dirty="0">
                <a:solidFill>
                  <a:srgbClr val="2B2A4C"/>
                </a:solidFill>
                <a:latin typeface="Arial" pitchFamily="34" charset="0"/>
                <a:ea typeface="Arial" pitchFamily="34" charset="-122"/>
                <a:cs typeface="Arial" pitchFamily="34" charset="-120"/>
              </a:rPr>
              <a:t>2. Talk</a:t>
            </a:r>
            <a:endParaRPr lang="en-US" sz="2000" dirty="0"/>
          </a:p>
        </p:txBody>
      </p:sp>
      <p:sp>
        <p:nvSpPr>
          <p:cNvPr id="12" name="Text 8"/>
          <p:cNvSpPr txBox="1"/>
          <p:nvPr/>
        </p:nvSpPr>
        <p:spPr>
          <a:xfrm>
            <a:off x="3593592" y="2377440"/>
            <a:ext cx="2148840" cy="640080"/>
          </a:xfrm>
          <a:prstGeom prst="rect">
            <a:avLst/>
          </a:prstGeom>
          <a:noFill/>
          <a:ln/>
        </p:spPr>
        <p:txBody>
          <a:bodyPr wrap="square" lIns="0" tIns="0" rIns="0" bIns="0" rtlCol="0" anchor="t"/>
          <a:lstStyle/>
          <a:p>
            <a:pPr indent="0" marL="0">
              <a:buNone/>
            </a:pPr>
            <a:r>
              <a:rPr lang="en-US" sz="1400" dirty="0">
                <a:solidFill>
                  <a:srgbClr val="5A5C78"/>
                </a:solidFill>
                <a:latin typeface="Arial" pitchFamily="34" charset="0"/>
                <a:ea typeface="Arial" pitchFamily="34" charset="-122"/>
                <a:cs typeface="Arial" pitchFamily="34" charset="-120"/>
              </a:rPr>
              <a:t>Exchange evidence, 2 × 200 characters</a:t>
            </a:r>
            <a:endParaRPr lang="en-US" sz="1400" dirty="0"/>
          </a:p>
        </p:txBody>
      </p:sp>
      <p:sp>
        <p:nvSpPr>
          <p:cNvPr id="13" name="phase-Verdict"/>
          <p:cNvSpPr/>
          <p:nvPr/>
        </p:nvSpPr>
        <p:spPr>
          <a:xfrm>
            <a:off x="6181344" y="1417320"/>
            <a:ext cx="2560320" cy="1737360"/>
          </a:xfrm>
          <a:prstGeom prst="roundRect">
            <a:avLst>
              <a:gd name="adj" fmla="val 9474"/>
            </a:avLst>
          </a:prstGeom>
          <a:solidFill>
            <a:srgbClr val="F4F3F8"/>
          </a:solidFill>
          <a:ln w="12700">
            <a:solidFill>
              <a:srgbClr val="F4F3F8"/>
            </a:solidFill>
            <a:prstDash val="solid"/>
          </a:ln>
        </p:spPr>
      </p:sp>
      <p:sp>
        <p:nvSpPr>
          <p:cNvPr id="14" name="phase-icon-Verdict"/>
          <p:cNvSpPr/>
          <p:nvPr/>
        </p:nvSpPr>
        <p:spPr>
          <a:xfrm>
            <a:off x="6409944" y="1600200"/>
            <a:ext cx="640080" cy="640080"/>
          </a:xfrm>
          <a:prstGeom prst="ellipse">
            <a:avLst/>
          </a:prstGeom>
          <a:solidFill>
            <a:srgbClr val="2B2A4C"/>
          </a:solidFill>
          <a:ln w="12700">
            <a:solidFill>
              <a:srgbClr val="2B2A4C"/>
            </a:solidFill>
            <a:prstDash val="solid"/>
          </a:ln>
        </p:spPr>
      </p:sp>
      <p:pic>
        <p:nvPicPr>
          <p:cNvPr id="15" name="Image 2" descr="preencoded.png">    </p:cNvPr>
          <p:cNvPicPr>
            <a:picLocks noChangeAspect="1"/>
          </p:cNvPicPr>
          <p:nvPr/>
        </p:nvPicPr>
        <p:blipFill>
          <a:blip r:embed="rId3"/>
          <a:stretch>
            <a:fillRect/>
          </a:stretch>
        </p:blipFill>
        <p:spPr>
          <a:xfrm>
            <a:off x="6563563" y="1753819"/>
            <a:ext cx="332842" cy="332842"/>
          </a:xfrm>
          <a:prstGeom prst="rect">
            <a:avLst/>
          </a:prstGeom>
        </p:spPr>
      </p:pic>
      <p:sp>
        <p:nvSpPr>
          <p:cNvPr id="16" name="Text 11"/>
          <p:cNvSpPr txBox="1"/>
          <p:nvPr/>
        </p:nvSpPr>
        <p:spPr>
          <a:xfrm>
            <a:off x="7187184" y="1645920"/>
            <a:ext cx="1463040" cy="548640"/>
          </a:xfrm>
          <a:prstGeom prst="rect">
            <a:avLst/>
          </a:prstGeom>
          <a:noFill/>
          <a:ln/>
        </p:spPr>
        <p:txBody>
          <a:bodyPr wrap="square" lIns="0" tIns="0" rIns="0" bIns="0" rtlCol="0" anchor="ctr"/>
          <a:lstStyle/>
          <a:p>
            <a:pPr indent="0" marL="0">
              <a:buNone/>
            </a:pPr>
            <a:r>
              <a:rPr lang="en-US" sz="2000" b="1" dirty="0">
                <a:solidFill>
                  <a:srgbClr val="2B2A4C"/>
                </a:solidFill>
                <a:latin typeface="Arial" pitchFamily="34" charset="0"/>
                <a:ea typeface="Arial" pitchFamily="34" charset="-122"/>
                <a:cs typeface="Arial" pitchFamily="34" charset="-120"/>
              </a:rPr>
              <a:t>3. Verdict</a:t>
            </a:r>
            <a:endParaRPr lang="en-US" sz="2000" dirty="0"/>
          </a:p>
        </p:txBody>
      </p:sp>
      <p:sp>
        <p:nvSpPr>
          <p:cNvPr id="17" name="Text 12"/>
          <p:cNvSpPr txBox="1"/>
          <p:nvPr/>
        </p:nvSpPr>
        <p:spPr>
          <a:xfrm>
            <a:off x="6409944" y="2377440"/>
            <a:ext cx="2148840" cy="640080"/>
          </a:xfrm>
          <a:prstGeom prst="rect">
            <a:avLst/>
          </a:prstGeom>
          <a:noFill/>
          <a:ln/>
        </p:spPr>
        <p:txBody>
          <a:bodyPr wrap="square" lIns="0" tIns="0" rIns="0" bIns="0" rtlCol="0" anchor="t"/>
          <a:lstStyle/>
          <a:p>
            <a:pPr indent="0" marL="0">
              <a:buNone/>
            </a:pPr>
            <a:r>
              <a:rPr lang="en-US" sz="1400" dirty="0">
                <a:solidFill>
                  <a:srgbClr val="5A5C78"/>
                </a:solidFill>
                <a:latin typeface="Arial" pitchFamily="34" charset="0"/>
                <a:ea typeface="Arial" pitchFamily="34" charset="-122"/>
                <a:cs typeface="Arial" pitchFamily="34" charset="-120"/>
              </a:rPr>
              <a:t>ACCEPT or REJECT the peer's work</a:t>
            </a:r>
            <a:endParaRPr lang="en-US" sz="1400" dirty="0"/>
          </a:p>
        </p:txBody>
      </p:sp>
      <p:sp>
        <p:nvSpPr>
          <p:cNvPr id="18" name="phase-Reflect"/>
          <p:cNvSpPr/>
          <p:nvPr/>
        </p:nvSpPr>
        <p:spPr>
          <a:xfrm>
            <a:off x="8997696" y="1417320"/>
            <a:ext cx="2560320" cy="1737360"/>
          </a:xfrm>
          <a:prstGeom prst="roundRect">
            <a:avLst>
              <a:gd name="adj" fmla="val 9474"/>
            </a:avLst>
          </a:prstGeom>
          <a:solidFill>
            <a:srgbClr val="F4F3F8"/>
          </a:solidFill>
          <a:ln w="12700">
            <a:solidFill>
              <a:srgbClr val="F4F3F8"/>
            </a:solidFill>
            <a:prstDash val="solid"/>
          </a:ln>
        </p:spPr>
      </p:sp>
      <p:sp>
        <p:nvSpPr>
          <p:cNvPr id="19" name="phase-icon-Reflect"/>
          <p:cNvSpPr/>
          <p:nvPr/>
        </p:nvSpPr>
        <p:spPr>
          <a:xfrm>
            <a:off x="9226296" y="1600200"/>
            <a:ext cx="640080" cy="640080"/>
          </a:xfrm>
          <a:prstGeom prst="ellipse">
            <a:avLst/>
          </a:prstGeom>
          <a:solidFill>
            <a:srgbClr val="2B2A4C"/>
          </a:solidFill>
          <a:ln w="12700">
            <a:solidFill>
              <a:srgbClr val="2B2A4C"/>
            </a:solidFill>
            <a:prstDash val="solid"/>
          </a:ln>
        </p:spPr>
      </p:sp>
      <p:pic>
        <p:nvPicPr>
          <p:cNvPr id="20" name="Image 3" descr="preencoded.png">    </p:cNvPr>
          <p:cNvPicPr>
            <a:picLocks noChangeAspect="1"/>
          </p:cNvPicPr>
          <p:nvPr/>
        </p:nvPicPr>
        <p:blipFill>
          <a:blip r:embed="rId4"/>
          <a:stretch>
            <a:fillRect/>
          </a:stretch>
        </p:blipFill>
        <p:spPr>
          <a:xfrm>
            <a:off x="9379915" y="1753819"/>
            <a:ext cx="332842" cy="332842"/>
          </a:xfrm>
          <a:prstGeom prst="rect">
            <a:avLst/>
          </a:prstGeom>
        </p:spPr>
      </p:pic>
      <p:sp>
        <p:nvSpPr>
          <p:cNvPr id="21" name="Text 15"/>
          <p:cNvSpPr txBox="1"/>
          <p:nvPr/>
        </p:nvSpPr>
        <p:spPr>
          <a:xfrm>
            <a:off x="10003536" y="1645920"/>
            <a:ext cx="1463040" cy="548640"/>
          </a:xfrm>
          <a:prstGeom prst="rect">
            <a:avLst/>
          </a:prstGeom>
          <a:noFill/>
          <a:ln/>
        </p:spPr>
        <p:txBody>
          <a:bodyPr wrap="square" lIns="0" tIns="0" rIns="0" bIns="0" rtlCol="0" anchor="ctr"/>
          <a:lstStyle/>
          <a:p>
            <a:pPr indent="0" marL="0">
              <a:buNone/>
            </a:pPr>
            <a:r>
              <a:rPr lang="en-US" sz="2000" b="1" dirty="0">
                <a:solidFill>
                  <a:srgbClr val="2B2A4C"/>
                </a:solidFill>
                <a:latin typeface="Arial" pitchFamily="34" charset="0"/>
                <a:ea typeface="Arial" pitchFamily="34" charset="-122"/>
                <a:cs typeface="Arial" pitchFamily="34" charset="-120"/>
              </a:rPr>
              <a:t>4. Reflect</a:t>
            </a:r>
            <a:endParaRPr lang="en-US" sz="2000" dirty="0"/>
          </a:p>
        </p:txBody>
      </p:sp>
      <p:sp>
        <p:nvSpPr>
          <p:cNvPr id="22" name="Text 16"/>
          <p:cNvSpPr txBox="1"/>
          <p:nvPr/>
        </p:nvSpPr>
        <p:spPr>
          <a:xfrm>
            <a:off x="9226296" y="2377440"/>
            <a:ext cx="2148840" cy="640080"/>
          </a:xfrm>
          <a:prstGeom prst="rect">
            <a:avLst/>
          </a:prstGeom>
          <a:noFill/>
          <a:ln/>
        </p:spPr>
        <p:txBody>
          <a:bodyPr wrap="square" lIns="0" tIns="0" rIns="0" bIns="0" rtlCol="0" anchor="t"/>
          <a:lstStyle/>
          <a:p>
            <a:pPr indent="0" marL="0">
              <a:buNone/>
            </a:pPr>
            <a:r>
              <a:rPr lang="en-US" sz="1400" dirty="0">
                <a:solidFill>
                  <a:srgbClr val="5A5C78"/>
                </a:solidFill>
                <a:latin typeface="Arial" pitchFamily="34" charset="0"/>
                <a:ea typeface="Arial" pitchFamily="34" charset="-122"/>
                <a:cs typeface="Arial" pitchFamily="34" charset="-120"/>
              </a:rPr>
              <a:t>See the reward, write a private note</a:t>
            </a:r>
            <a:endParaRPr lang="en-US" sz="1400" dirty="0"/>
          </a:p>
        </p:txBody>
      </p:sp>
      <p:sp>
        <p:nvSpPr>
          <p:cNvPr id="23" name="Text 17"/>
          <p:cNvSpPr txBox="1"/>
          <p:nvPr/>
        </p:nvSpPr>
        <p:spPr>
          <a:xfrm>
            <a:off x="548640" y="3657600"/>
            <a:ext cx="2560320" cy="365760"/>
          </a:xfrm>
          <a:prstGeom prst="rect">
            <a:avLst/>
          </a:prstGeom>
          <a:noFill/>
          <a:ln/>
        </p:spPr>
        <p:txBody>
          <a:bodyPr wrap="square" lIns="0" tIns="0" rIns="0" bIns="0" rtlCol="0" anchor="ctr"/>
          <a:lstStyle/>
          <a:p>
            <a:pPr indent="0" marL="0">
              <a:buNone/>
            </a:pPr>
            <a:r>
              <a:rPr lang="en-US" sz="1600" b="1" dirty="0">
                <a:solidFill>
                  <a:srgbClr val="2B2A4C"/>
                </a:solidFill>
                <a:latin typeface="Arial" pitchFamily="34" charset="0"/>
                <a:ea typeface="Arial" pitchFamily="34" charset="-122"/>
                <a:cs typeface="Arial" pitchFamily="34" charset="-120"/>
              </a:rPr>
              <a:t>The rule</a:t>
            </a:r>
            <a:endParaRPr lang="en-US" sz="1600" dirty="0"/>
          </a:p>
        </p:txBody>
      </p:sp>
      <p:sp>
        <p:nvSpPr>
          <p:cNvPr id="24" name="Text 18"/>
          <p:cNvSpPr txBox="1"/>
          <p:nvPr/>
        </p:nvSpPr>
        <p:spPr>
          <a:xfrm>
            <a:off x="548640" y="4023360"/>
            <a:ext cx="2560320" cy="685800"/>
          </a:xfrm>
          <a:prstGeom prst="rect">
            <a:avLst/>
          </a:prstGeom>
          <a:noFill/>
          <a:ln/>
        </p:spPr>
        <p:txBody>
          <a:bodyPr wrap="square" lIns="0" tIns="0" rIns="0" bIns="0" rtlCol="0" anchor="t"/>
          <a:lstStyle/>
          <a:p>
            <a:pPr indent="0" marL="0">
              <a:buNone/>
            </a:pPr>
            <a:r>
              <a:rPr lang="en-US" sz="1500" dirty="0">
                <a:solidFill>
                  <a:srgbClr val="2B2A4C"/>
                </a:solidFill>
                <a:latin typeface="Arial" pitchFamily="34" charset="0"/>
                <a:ea typeface="Arial" pitchFamily="34" charset="-122"/>
                <a:cs typeface="Arial" pitchFamily="34" charset="-120"/>
              </a:rPr>
              <a:t>ACCEPT only on the peer's complete raw log</a:t>
            </a:r>
            <a:endParaRPr lang="en-US" sz="1500" dirty="0"/>
          </a:p>
        </p:txBody>
      </p:sp>
      <p:sp>
        <p:nvSpPr>
          <p:cNvPr id="25" name="Text 19"/>
          <p:cNvSpPr txBox="1"/>
          <p:nvPr/>
        </p:nvSpPr>
        <p:spPr>
          <a:xfrm>
            <a:off x="3364992" y="3657600"/>
            <a:ext cx="2560320" cy="365760"/>
          </a:xfrm>
          <a:prstGeom prst="rect">
            <a:avLst/>
          </a:prstGeom>
          <a:noFill/>
          <a:ln/>
        </p:spPr>
        <p:txBody>
          <a:bodyPr wrap="square" lIns="0" tIns="0" rIns="0" bIns="0" rtlCol="0" anchor="ctr"/>
          <a:lstStyle/>
          <a:p>
            <a:pPr indent="0" marL="0">
              <a:buNone/>
            </a:pPr>
            <a:r>
              <a:rPr lang="en-US" sz="1600" b="1" dirty="0">
                <a:solidFill>
                  <a:srgbClr val="5A5C78"/>
                </a:solidFill>
                <a:latin typeface="Arial" pitchFamily="34" charset="0"/>
                <a:ea typeface="Arial" pitchFamily="34" charset="-122"/>
                <a:cs typeface="Arial" pitchFamily="34" charset="-120"/>
              </a:rPr>
              <a:t>The channel</a:t>
            </a:r>
            <a:endParaRPr lang="en-US" sz="1600" dirty="0"/>
          </a:p>
        </p:txBody>
      </p:sp>
      <p:sp>
        <p:nvSpPr>
          <p:cNvPr id="26" name="Text 20"/>
          <p:cNvSpPr txBox="1"/>
          <p:nvPr/>
        </p:nvSpPr>
        <p:spPr>
          <a:xfrm>
            <a:off x="3364992" y="4023360"/>
            <a:ext cx="2560320" cy="685800"/>
          </a:xfrm>
          <a:prstGeom prst="rect">
            <a:avLst/>
          </a:prstGeom>
          <a:noFill/>
          <a:ln/>
        </p:spPr>
        <p:txBody>
          <a:bodyPr wrap="square" lIns="0" tIns="0" rIns="0" bIns="0" rtlCol="0" anchor="t"/>
          <a:lstStyle/>
          <a:p>
            <a:pPr indent="0" marL="0">
              <a:buNone/>
            </a:pPr>
            <a:r>
              <a:rPr lang="en-US" sz="1500" dirty="0">
                <a:solidFill>
                  <a:srgbClr val="2B2A4C"/>
                </a:solidFill>
                <a:latin typeface="Arial" pitchFamily="34" charset="0"/>
                <a:ea typeface="Arial" pitchFamily="34" charset="-122"/>
                <a:cs typeface="Arial" pitchFamily="34" charset="-120"/>
              </a:rPr>
              <a:t>400 characters; logs run ~5,600</a:t>
            </a:r>
            <a:endParaRPr lang="en-US" sz="1500" dirty="0"/>
          </a:p>
        </p:txBody>
      </p:sp>
      <p:sp>
        <p:nvSpPr>
          <p:cNvPr id="27" name="Text 21"/>
          <p:cNvSpPr txBox="1"/>
          <p:nvPr/>
        </p:nvSpPr>
        <p:spPr>
          <a:xfrm>
            <a:off x="6181344" y="3657600"/>
            <a:ext cx="2560320" cy="365760"/>
          </a:xfrm>
          <a:prstGeom prst="rect">
            <a:avLst/>
          </a:prstGeom>
          <a:noFill/>
          <a:ln/>
        </p:spPr>
        <p:txBody>
          <a:bodyPr wrap="square" lIns="0" tIns="0" rIns="0" bIns="0" rtlCol="0" anchor="ctr"/>
          <a:lstStyle/>
          <a:p>
            <a:pPr indent="0" marL="0">
              <a:buNone/>
            </a:pPr>
            <a:r>
              <a:rPr lang="en-US" sz="1600" b="1" dirty="0">
                <a:solidFill>
                  <a:srgbClr val="E39A2D"/>
                </a:solidFill>
                <a:latin typeface="Arial" pitchFamily="34" charset="0"/>
                <a:ea typeface="Arial" pitchFamily="34" charset="-122"/>
                <a:cs typeface="Arial" pitchFamily="34" charset="-120"/>
              </a:rPr>
              <a:t>The reward</a:t>
            </a:r>
            <a:endParaRPr lang="en-US" sz="1600" dirty="0"/>
          </a:p>
        </p:txBody>
      </p:sp>
      <p:sp>
        <p:nvSpPr>
          <p:cNvPr id="28" name="Text 22"/>
          <p:cNvSpPr txBox="1"/>
          <p:nvPr/>
        </p:nvSpPr>
        <p:spPr>
          <a:xfrm>
            <a:off x="6181344" y="4023360"/>
            <a:ext cx="2560320" cy="685800"/>
          </a:xfrm>
          <a:prstGeom prst="rect">
            <a:avLst/>
          </a:prstGeom>
          <a:noFill/>
          <a:ln/>
        </p:spPr>
        <p:txBody>
          <a:bodyPr wrap="square" lIns="0" tIns="0" rIns="0" bIns="0" rtlCol="0" anchor="t"/>
          <a:lstStyle/>
          <a:p>
            <a:pPr indent="0" marL="0">
              <a:buNone/>
            </a:pPr>
            <a:r>
              <a:rPr lang="en-US" sz="1500" dirty="0">
                <a:solidFill>
                  <a:srgbClr val="2B2A4C"/>
                </a:solidFill>
                <a:latin typeface="Arial" pitchFamily="34" charset="0"/>
                <a:ea typeface="Arial" pitchFamily="34" charset="-122"/>
                <a:cs typeface="Arial" pitchFamily="34" charset="-120"/>
              </a:rPr>
              <a:t>+10 for every verdict that is right</a:t>
            </a:r>
            <a:endParaRPr lang="en-US" sz="1500" dirty="0"/>
          </a:p>
        </p:txBody>
      </p:sp>
      <p:sp>
        <p:nvSpPr>
          <p:cNvPr id="29" name="collusion-card"/>
          <p:cNvSpPr/>
          <p:nvPr/>
        </p:nvSpPr>
        <p:spPr>
          <a:xfrm>
            <a:off x="8997696" y="3611880"/>
            <a:ext cx="2615184" cy="2103120"/>
          </a:xfrm>
          <a:prstGeom prst="roundRect">
            <a:avLst>
              <a:gd name="adj" fmla="val 7826"/>
            </a:avLst>
          </a:prstGeom>
          <a:solidFill>
            <a:srgbClr val="FCEBD0"/>
          </a:solidFill>
          <a:ln w="12700">
            <a:solidFill>
              <a:srgbClr val="FCEBD0"/>
            </a:solidFill>
            <a:prstDash val="solid"/>
          </a:ln>
        </p:spPr>
      </p:sp>
      <p:sp>
        <p:nvSpPr>
          <p:cNvPr id="30" name="Text 24"/>
          <p:cNvSpPr txBox="1"/>
          <p:nvPr/>
        </p:nvSpPr>
        <p:spPr>
          <a:xfrm>
            <a:off x="9235440" y="3794760"/>
            <a:ext cx="2194560" cy="1737360"/>
          </a:xfrm>
          <a:prstGeom prst="rect">
            <a:avLst/>
          </a:prstGeom>
          <a:noFill/>
          <a:ln/>
        </p:spPr>
        <p:txBody>
          <a:bodyPr wrap="square" lIns="0" tIns="0" rIns="0" bIns="0" rtlCol="0" anchor="t"/>
          <a:lstStyle/>
          <a:p>
            <a:pPr indent="0" marL="0">
              <a:buNone/>
            </a:pPr>
            <a:r>
              <a:rPr lang="en-US" sz="2000" b="1" dirty="0">
                <a:solidFill>
                  <a:srgbClr val="2B2A4C"/>
                </a:solidFill>
                <a:latin typeface="Arial" pitchFamily="34" charset="0"/>
                <a:ea typeface="Arial" pitchFamily="34" charset="-122"/>
                <a:cs typeface="Arial" pitchFamily="34" charset="-120"/>
              </a:rPr>
              <a:t>Collusion</a:t>
            </a:r>
            <a:endParaRPr lang="en-US" sz="2000" dirty="0"/>
          </a:p>
          <a:p>
            <a:pPr indent="0" marL="0">
              <a:buNone/>
            </a:pPr>
            <a:r>
              <a:rPr lang="en-US" sz="1500" dirty="0">
                <a:solidFill>
                  <a:srgbClr val="2B2A4C"/>
                </a:solidFill>
                <a:latin typeface="Arial" pitchFamily="34" charset="0"/>
                <a:ea typeface="Arial" pitchFamily="34" charset="-122"/>
                <a:cs typeface="Arial" pitchFamily="34" charset="-120"/>
              </a:rPr>
              <a:t>both agents ACCEPT although neither could see the full log</a:t>
            </a:r>
            <a:endParaRPr lang="en-US" sz="2000" dirty="0"/>
          </a:p>
        </p:txBody>
      </p:sp>
      <p:sp>
        <p:nvSpPr>
          <p:cNvPr id="31" name="Text 25"/>
          <p:cNvSpPr txBox="1"/>
          <p:nvPr/>
        </p:nvSpPr>
        <p:spPr>
          <a:xfrm>
            <a:off x="548640" y="5120640"/>
            <a:ext cx="8138160" cy="548640"/>
          </a:xfrm>
          <a:prstGeom prst="rect">
            <a:avLst/>
          </a:prstGeom>
          <a:noFill/>
          <a:ln/>
        </p:spPr>
        <p:txBody>
          <a:bodyPr wrap="square" lIns="0" tIns="0" rIns="0" bIns="0" rtlCol="0" anchor="ctr"/>
          <a:lstStyle/>
          <a:p>
            <a:pPr indent="0" marL="0">
              <a:buNone/>
            </a:pPr>
            <a:r>
              <a:rPr lang="en-US" sz="1600" i="1" dirty="0">
                <a:solidFill>
                  <a:srgbClr val="5A5C78"/>
                </a:solidFill>
                <a:latin typeface="Arial" pitchFamily="34" charset="0"/>
                <a:ea typeface="Arial" pitchFamily="34" charset="-122"/>
                <a:cs typeface="Arial" pitchFamily="34" charset="-120"/>
              </a:rPr>
              <a:t>Following the rule is impossible, but accepting pays: the pair learns to waive it.</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Save a history once collusion forms, then branch it</a:t>
            </a:r>
            <a:endParaRPr lang="en-US" sz="3400" dirty="0"/>
          </a:p>
        </p:txBody>
      </p:sp>
      <p:sp>
        <p:nvSpPr>
          <p:cNvPr id="3" name="history-build"/>
          <p:cNvSpPr/>
          <p:nvPr/>
        </p:nvSpPr>
        <p:spPr>
          <a:xfrm>
            <a:off x="548640" y="2194560"/>
            <a:ext cx="2834640" cy="1737360"/>
          </a:xfrm>
          <a:prstGeom prst="roundRect">
            <a:avLst>
              <a:gd name="adj" fmla="val 9474"/>
            </a:avLst>
          </a:prstGeom>
          <a:solidFill>
            <a:srgbClr val="FCEBD0"/>
          </a:solidFill>
          <a:ln w="12700">
            <a:solidFill>
              <a:srgbClr val="FCEBD0"/>
            </a:solidFill>
            <a:prstDash val="solid"/>
          </a:ln>
        </p:spPr>
      </p:sp>
      <p:sp>
        <p:nvSpPr>
          <p:cNvPr id="4" name="Text 2"/>
          <p:cNvSpPr txBox="1"/>
          <p:nvPr/>
        </p:nvSpPr>
        <p:spPr>
          <a:xfrm>
            <a:off x="777240" y="2331720"/>
            <a:ext cx="2377440" cy="1463040"/>
          </a:xfrm>
          <a:prstGeom prst="rect">
            <a:avLst/>
          </a:prstGeom>
          <a:noFill/>
          <a:ln/>
        </p:spPr>
        <p:txBody>
          <a:bodyPr wrap="square" lIns="0" tIns="0" rIns="0" bIns="0" rtlCol="0" anchor="t"/>
          <a:lstStyle/>
          <a:p>
            <a:pPr indent="0" marL="0">
              <a:buNone/>
            </a:pPr>
            <a:r>
              <a:rPr lang="en-US" sz="1800" b="1" dirty="0">
                <a:solidFill>
                  <a:srgbClr val="2B2A4C"/>
                </a:solidFill>
                <a:latin typeface="Arial" pitchFamily="34" charset="0"/>
                <a:ea typeface="Arial" pitchFamily="34" charset="-122"/>
                <a:cs typeface="Arial" pitchFamily="34" charset="-120"/>
              </a:rPr>
              <a:t>Collusion has formed</a:t>
            </a:r>
            <a:endParaRPr lang="en-US" sz="1800" dirty="0"/>
          </a:p>
          <a:p>
            <a:pPr indent="0" marL="0">
              <a:buNone/>
            </a:pPr>
            <a:r>
              <a:rPr lang="en-US" sz="1400" dirty="0">
                <a:solidFill>
                  <a:srgbClr val="2B2A4C"/>
                </a:solidFill>
                <a:latin typeface="Arial" pitchFamily="34" charset="0"/>
                <a:ea typeface="Arial" pitchFamily="34" charset="-122"/>
                <a:cs typeface="Arial" pitchFamily="34" charset="-120"/>
              </a:rPr>
              <a:t>the pair's 2nd mutual ACCEPT: one could be a one-off, two is a pattern</a:t>
            </a:r>
            <a:endParaRPr lang="en-US" sz="1800" dirty="0"/>
          </a:p>
        </p:txBody>
      </p:sp>
      <p:sp>
        <p:nvSpPr>
          <p:cNvPr id="5" name="Shape 3"/>
          <p:cNvSpPr/>
          <p:nvPr/>
        </p:nvSpPr>
        <p:spPr>
          <a:xfrm>
            <a:off x="3520440" y="2880360"/>
            <a:ext cx="548640" cy="365760"/>
          </a:xfrm>
          <a:prstGeom prst="rightArrow">
            <a:avLst/>
          </a:prstGeom>
          <a:solidFill>
            <a:srgbClr val="9AA0AE"/>
          </a:solidFill>
          <a:ln w="12700">
            <a:solidFill>
              <a:srgbClr val="9AA0AE"/>
            </a:solidFill>
            <a:prstDash val="solid"/>
          </a:ln>
        </p:spPr>
      </p:sp>
      <p:sp>
        <p:nvSpPr>
          <p:cNvPr id="6" name="saved-history"/>
          <p:cNvSpPr/>
          <p:nvPr/>
        </p:nvSpPr>
        <p:spPr>
          <a:xfrm>
            <a:off x="4206240" y="2194560"/>
            <a:ext cx="2286000" cy="1737360"/>
          </a:xfrm>
          <a:prstGeom prst="roundRect">
            <a:avLst>
              <a:gd name="adj" fmla="val 9474"/>
            </a:avLst>
          </a:prstGeom>
          <a:solidFill>
            <a:srgbClr val="2B2A4C"/>
          </a:solidFill>
          <a:ln w="12700">
            <a:solidFill>
              <a:srgbClr val="2B2A4C"/>
            </a:solidFill>
            <a:prstDash val="solid"/>
          </a:ln>
        </p:spPr>
      </p:sp>
      <p:sp>
        <p:nvSpPr>
          <p:cNvPr id="7" name="Text 5"/>
          <p:cNvSpPr txBox="1"/>
          <p:nvPr/>
        </p:nvSpPr>
        <p:spPr>
          <a:xfrm>
            <a:off x="4434840" y="2331720"/>
            <a:ext cx="1920240" cy="14630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Saved history</a:t>
            </a:r>
            <a:endParaRPr lang="en-US" sz="1800" dirty="0"/>
          </a:p>
          <a:p>
            <a:pPr indent="0" marL="0">
              <a:buNone/>
            </a:pPr>
            <a:r>
              <a:rPr lang="en-US" sz="1400" dirty="0">
                <a:solidFill>
                  <a:srgbClr val="FFFFFF"/>
                </a:solidFill>
                <a:latin typeface="Arial" pitchFamily="34" charset="0"/>
                <a:ea typeface="Arial" pitchFamily="34" charset="-122"/>
                <a:cs typeface="Arial" pitchFamily="34" charset="-120"/>
              </a:rPr>
              <a:t>15 per model</a:t>
            </a:r>
            <a:endParaRPr lang="en-US" sz="1800" dirty="0"/>
          </a:p>
        </p:txBody>
      </p:sp>
      <p:sp>
        <p:nvSpPr>
          <p:cNvPr id="8" name="Shape 6"/>
          <p:cNvSpPr/>
          <p:nvPr/>
        </p:nvSpPr>
        <p:spPr>
          <a:xfrm flipV="1">
            <a:off x="6492240" y="1755648"/>
            <a:ext cx="731520" cy="1307592"/>
          </a:xfrm>
          <a:prstGeom prst="line">
            <a:avLst/>
          </a:prstGeom>
          <a:noFill/>
          <a:ln w="15875">
            <a:solidFill>
              <a:srgbClr val="9AA0AE"/>
            </a:solidFill>
            <a:prstDash val="solid"/>
          </a:ln>
        </p:spPr>
      </p:sp>
      <p:sp>
        <p:nvSpPr>
          <p:cNvPr id="9" name="arm-0"/>
          <p:cNvSpPr/>
          <p:nvPr/>
        </p:nvSpPr>
        <p:spPr>
          <a:xfrm>
            <a:off x="7269480" y="1325880"/>
            <a:ext cx="4343400" cy="868680"/>
          </a:xfrm>
          <a:prstGeom prst="roundRect">
            <a:avLst>
              <a:gd name="adj" fmla="val 18947"/>
            </a:avLst>
          </a:prstGeom>
          <a:solidFill>
            <a:srgbClr val="F4F3F8"/>
          </a:solidFill>
          <a:ln w="12700">
            <a:solidFill>
              <a:srgbClr val="F4F3F8"/>
            </a:solidFill>
            <a:prstDash val="solid"/>
          </a:ln>
        </p:spPr>
      </p:sp>
      <p:sp>
        <p:nvSpPr>
          <p:cNvPr id="10" name="arm-icon-0"/>
          <p:cNvSpPr/>
          <p:nvPr/>
        </p:nvSpPr>
        <p:spPr>
          <a:xfrm>
            <a:off x="7406640" y="1463040"/>
            <a:ext cx="594360" cy="594360"/>
          </a:xfrm>
          <a:prstGeom prst="ellipse">
            <a:avLst/>
          </a:prstGeom>
          <a:solidFill>
            <a:srgbClr val="3A9C96"/>
          </a:solidFill>
          <a:ln w="12700">
            <a:solidFill>
              <a:srgbClr val="3A9C96"/>
            </a:solidFill>
            <a:prstDash val="solid"/>
          </a:ln>
        </p:spPr>
      </p:sp>
      <p:pic>
        <p:nvPicPr>
          <p:cNvPr id="11" name="Image 0" descr="preencoded.png">    </p:cNvPr>
          <p:cNvPicPr>
            <a:picLocks noChangeAspect="1"/>
          </p:cNvPicPr>
          <p:nvPr/>
        </p:nvPicPr>
        <p:blipFill>
          <a:blip r:embed="rId1"/>
          <a:stretch>
            <a:fillRect/>
          </a:stretch>
        </p:blipFill>
        <p:spPr>
          <a:xfrm>
            <a:off x="7549286" y="1605686"/>
            <a:ext cx="309067" cy="309067"/>
          </a:xfrm>
          <a:prstGeom prst="rect">
            <a:avLst/>
          </a:prstGeom>
        </p:spPr>
      </p:pic>
      <p:sp>
        <p:nvSpPr>
          <p:cNvPr id="12" name="Text 9"/>
          <p:cNvSpPr txBox="1"/>
          <p:nvPr/>
        </p:nvSpPr>
        <p:spPr>
          <a:xfrm>
            <a:off x="8183880" y="1399032"/>
            <a:ext cx="3337560" cy="731520"/>
          </a:xfrm>
          <a:prstGeom prst="rect">
            <a:avLst/>
          </a:prstGeom>
          <a:noFill/>
          <a:ln/>
        </p:spPr>
        <p:txBody>
          <a:bodyPr wrap="square" lIns="0" tIns="0" rIns="0" bIns="0" rtlCol="0" anchor="ctr"/>
          <a:lstStyle/>
          <a:p>
            <a:pPr indent="0" marL="0">
              <a:buNone/>
            </a:pPr>
            <a:r>
              <a:rPr lang="en-US" sz="1600" b="1" dirty="0">
                <a:solidFill>
                  <a:srgbClr val="2B2A4C"/>
                </a:solidFill>
                <a:latin typeface="Arial" pitchFamily="34" charset="0"/>
                <a:ea typeface="Arial" pitchFamily="34" charset="-122"/>
                <a:cs typeface="Arial" pitchFamily="34" charset="-120"/>
              </a:rPr>
              <a:t>Incentive</a:t>
            </a:r>
            <a:endParaRPr lang="en-US" sz="1600" dirty="0"/>
          </a:p>
          <a:p>
            <a:pPr indent="0" marL="0">
              <a:buNone/>
            </a:pPr>
            <a:r>
              <a:rPr lang="en-US" sz="1300" dirty="0">
                <a:solidFill>
                  <a:srgbClr val="5A5C78"/>
                </a:solidFill>
                <a:latin typeface="Arial" pitchFamily="34" charset="0"/>
                <a:ea typeface="Arial" pitchFamily="34" charset="-122"/>
                <a:cs typeface="Arial" pitchFamily="34" charset="-120"/>
              </a:rPr>
              <a:t>reward stops, silently or told</a:t>
            </a:r>
            <a:endParaRPr lang="en-US" sz="1600" dirty="0"/>
          </a:p>
        </p:txBody>
      </p:sp>
      <p:sp>
        <p:nvSpPr>
          <p:cNvPr id="13" name="Shape 10"/>
          <p:cNvSpPr/>
          <p:nvPr/>
        </p:nvSpPr>
        <p:spPr>
          <a:xfrm flipV="1">
            <a:off x="6492240" y="2779776"/>
            <a:ext cx="731520" cy="283464"/>
          </a:xfrm>
          <a:prstGeom prst="line">
            <a:avLst/>
          </a:prstGeom>
          <a:noFill/>
          <a:ln w="15875">
            <a:solidFill>
              <a:srgbClr val="9AA0AE"/>
            </a:solidFill>
            <a:prstDash val="solid"/>
          </a:ln>
        </p:spPr>
      </p:sp>
      <p:sp>
        <p:nvSpPr>
          <p:cNvPr id="14" name="arm-1"/>
          <p:cNvSpPr/>
          <p:nvPr/>
        </p:nvSpPr>
        <p:spPr>
          <a:xfrm>
            <a:off x="7269480" y="2350008"/>
            <a:ext cx="4343400" cy="868680"/>
          </a:xfrm>
          <a:prstGeom prst="roundRect">
            <a:avLst>
              <a:gd name="adj" fmla="val 18947"/>
            </a:avLst>
          </a:prstGeom>
          <a:solidFill>
            <a:srgbClr val="F4F3F8"/>
          </a:solidFill>
          <a:ln w="12700">
            <a:solidFill>
              <a:srgbClr val="F4F3F8"/>
            </a:solidFill>
            <a:prstDash val="solid"/>
          </a:ln>
        </p:spPr>
      </p:sp>
      <p:sp>
        <p:nvSpPr>
          <p:cNvPr id="15" name="arm-icon-1"/>
          <p:cNvSpPr/>
          <p:nvPr/>
        </p:nvSpPr>
        <p:spPr>
          <a:xfrm>
            <a:off x="7406640" y="2487168"/>
            <a:ext cx="594360" cy="594360"/>
          </a:xfrm>
          <a:prstGeom prst="ellipse">
            <a:avLst/>
          </a:prstGeom>
          <a:solidFill>
            <a:srgbClr val="3A9C96"/>
          </a:solidFill>
          <a:ln w="12700">
            <a:solidFill>
              <a:srgbClr val="3A9C96"/>
            </a:solidFill>
            <a:prstDash val="solid"/>
          </a:ln>
        </p:spPr>
      </p:sp>
      <p:pic>
        <p:nvPicPr>
          <p:cNvPr id="16" name="Image 1" descr="preencoded.png">    </p:cNvPr>
          <p:cNvPicPr>
            <a:picLocks noChangeAspect="1"/>
          </p:cNvPicPr>
          <p:nvPr/>
        </p:nvPicPr>
        <p:blipFill>
          <a:blip r:embed="rId2"/>
          <a:stretch>
            <a:fillRect/>
          </a:stretch>
        </p:blipFill>
        <p:spPr>
          <a:xfrm>
            <a:off x="7549286" y="2629814"/>
            <a:ext cx="309067" cy="309067"/>
          </a:xfrm>
          <a:prstGeom prst="rect">
            <a:avLst/>
          </a:prstGeom>
        </p:spPr>
      </p:pic>
      <p:sp>
        <p:nvSpPr>
          <p:cNvPr id="17" name="Text 13"/>
          <p:cNvSpPr txBox="1"/>
          <p:nvPr/>
        </p:nvSpPr>
        <p:spPr>
          <a:xfrm>
            <a:off x="8183880" y="2423160"/>
            <a:ext cx="3337560" cy="731520"/>
          </a:xfrm>
          <a:prstGeom prst="rect">
            <a:avLst/>
          </a:prstGeom>
          <a:noFill/>
          <a:ln/>
        </p:spPr>
        <p:txBody>
          <a:bodyPr wrap="square" lIns="0" tIns="0" rIns="0" bIns="0" rtlCol="0" anchor="ctr"/>
          <a:lstStyle/>
          <a:p>
            <a:pPr indent="0" marL="0">
              <a:buNone/>
            </a:pPr>
            <a:r>
              <a:rPr lang="en-US" sz="1600" b="1" dirty="0">
                <a:solidFill>
                  <a:srgbClr val="2B2A4C"/>
                </a:solidFill>
                <a:latin typeface="Arial" pitchFamily="34" charset="0"/>
                <a:ea typeface="Arial" pitchFamily="34" charset="-122"/>
                <a:cs typeface="Arial" pitchFamily="34" charset="-120"/>
              </a:rPr>
              <a:t>Participants</a:t>
            </a:r>
            <a:endParaRPr lang="en-US" sz="1600" dirty="0"/>
          </a:p>
          <a:p>
            <a:pPr indent="0" marL="0">
              <a:buNone/>
            </a:pPr>
            <a:r>
              <a:rPr lang="en-US" sz="1300" dirty="0">
                <a:solidFill>
                  <a:srgbClr val="5A5C78"/>
                </a:solidFill>
                <a:latin typeface="Arial" pitchFamily="34" charset="0"/>
                <a:ea typeface="Arial" pitchFamily="34" charset="-122"/>
                <a:cs typeface="Arial" pitchFamily="34" charset="-120"/>
              </a:rPr>
              <a:t>one or both agents replaced</a:t>
            </a:r>
            <a:endParaRPr lang="en-US" sz="1600" dirty="0"/>
          </a:p>
        </p:txBody>
      </p:sp>
      <p:sp>
        <p:nvSpPr>
          <p:cNvPr id="18" name="Shape 14"/>
          <p:cNvSpPr/>
          <p:nvPr/>
        </p:nvSpPr>
        <p:spPr>
          <a:xfrm>
            <a:off x="6492240" y="3063240"/>
            <a:ext cx="731520" cy="740664"/>
          </a:xfrm>
          <a:prstGeom prst="line">
            <a:avLst/>
          </a:prstGeom>
          <a:noFill/>
          <a:ln w="15875">
            <a:solidFill>
              <a:srgbClr val="9AA0AE"/>
            </a:solidFill>
            <a:prstDash val="solid"/>
          </a:ln>
        </p:spPr>
      </p:sp>
      <p:sp>
        <p:nvSpPr>
          <p:cNvPr id="19" name="arm-2"/>
          <p:cNvSpPr/>
          <p:nvPr/>
        </p:nvSpPr>
        <p:spPr>
          <a:xfrm>
            <a:off x="7269480" y="3374136"/>
            <a:ext cx="4343400" cy="868680"/>
          </a:xfrm>
          <a:prstGeom prst="roundRect">
            <a:avLst>
              <a:gd name="adj" fmla="val 18947"/>
            </a:avLst>
          </a:prstGeom>
          <a:solidFill>
            <a:srgbClr val="F4F3F8"/>
          </a:solidFill>
          <a:ln w="12700">
            <a:solidFill>
              <a:srgbClr val="F4F3F8"/>
            </a:solidFill>
            <a:prstDash val="solid"/>
          </a:ln>
        </p:spPr>
      </p:sp>
      <p:sp>
        <p:nvSpPr>
          <p:cNvPr id="20" name="arm-icon-2"/>
          <p:cNvSpPr/>
          <p:nvPr/>
        </p:nvSpPr>
        <p:spPr>
          <a:xfrm>
            <a:off x="7406640" y="3511296"/>
            <a:ext cx="594360" cy="594360"/>
          </a:xfrm>
          <a:prstGeom prst="ellipse">
            <a:avLst/>
          </a:prstGeom>
          <a:solidFill>
            <a:srgbClr val="3A9C96"/>
          </a:solidFill>
          <a:ln w="12700">
            <a:solidFill>
              <a:srgbClr val="3A9C96"/>
            </a:solidFill>
            <a:prstDash val="solid"/>
          </a:ln>
        </p:spPr>
      </p:sp>
      <p:pic>
        <p:nvPicPr>
          <p:cNvPr id="21" name="Image 2" descr="preencoded.png">    </p:cNvPr>
          <p:cNvPicPr>
            <a:picLocks noChangeAspect="1"/>
          </p:cNvPicPr>
          <p:nvPr/>
        </p:nvPicPr>
        <p:blipFill>
          <a:blip r:embed="rId3"/>
          <a:stretch>
            <a:fillRect/>
          </a:stretch>
        </p:blipFill>
        <p:spPr>
          <a:xfrm>
            <a:off x="7549286" y="3653942"/>
            <a:ext cx="309067" cy="309067"/>
          </a:xfrm>
          <a:prstGeom prst="rect">
            <a:avLst/>
          </a:prstGeom>
        </p:spPr>
      </p:pic>
      <p:sp>
        <p:nvSpPr>
          <p:cNvPr id="22" name="Text 17"/>
          <p:cNvSpPr txBox="1"/>
          <p:nvPr/>
        </p:nvSpPr>
        <p:spPr>
          <a:xfrm>
            <a:off x="8183880" y="3447288"/>
            <a:ext cx="3337560" cy="731520"/>
          </a:xfrm>
          <a:prstGeom prst="rect">
            <a:avLst/>
          </a:prstGeom>
          <a:noFill/>
          <a:ln/>
        </p:spPr>
        <p:txBody>
          <a:bodyPr wrap="square" lIns="0" tIns="0" rIns="0" bIns="0" rtlCol="0" anchor="ctr"/>
          <a:lstStyle/>
          <a:p>
            <a:pPr indent="0" marL="0">
              <a:buNone/>
            </a:pPr>
            <a:r>
              <a:rPr lang="en-US" sz="1600" b="1" dirty="0">
                <a:solidFill>
                  <a:srgbClr val="2B2A4C"/>
                </a:solidFill>
                <a:latin typeface="Arial" pitchFamily="34" charset="0"/>
                <a:ea typeface="Arial" pitchFamily="34" charset="-122"/>
                <a:cs typeface="Arial" pitchFamily="34" charset="-120"/>
              </a:rPr>
              <a:t>Memory</a:t>
            </a:r>
            <a:endParaRPr lang="en-US" sz="1600" dirty="0"/>
          </a:p>
          <a:p>
            <a:pPr indent="0" marL="0">
              <a:buNone/>
            </a:pPr>
            <a:r>
              <a:rPr lang="en-US" sz="1300" dirty="0">
                <a:solidFill>
                  <a:srgbClr val="5A5C78"/>
                </a:solidFill>
                <a:latin typeface="Arial" pitchFamily="34" charset="0"/>
                <a:ea typeface="Arial" pitchFamily="34" charset="-122"/>
                <a:cs typeface="Arial" pitchFamily="34" charset="-120"/>
              </a:rPr>
              <a:t>one part of it removed</a:t>
            </a:r>
            <a:endParaRPr lang="en-US" sz="1600" dirty="0"/>
          </a:p>
        </p:txBody>
      </p:sp>
      <p:sp>
        <p:nvSpPr>
          <p:cNvPr id="23" name="Shape 18"/>
          <p:cNvSpPr/>
          <p:nvPr/>
        </p:nvSpPr>
        <p:spPr>
          <a:xfrm>
            <a:off x="6492240" y="3063240"/>
            <a:ext cx="731520" cy="1764792"/>
          </a:xfrm>
          <a:prstGeom prst="line">
            <a:avLst/>
          </a:prstGeom>
          <a:noFill/>
          <a:ln w="15875">
            <a:solidFill>
              <a:srgbClr val="9AA0AE"/>
            </a:solidFill>
            <a:prstDash val="solid"/>
          </a:ln>
        </p:spPr>
      </p:sp>
      <p:sp>
        <p:nvSpPr>
          <p:cNvPr id="24" name="arm-3"/>
          <p:cNvSpPr/>
          <p:nvPr/>
        </p:nvSpPr>
        <p:spPr>
          <a:xfrm>
            <a:off x="7269480" y="4398264"/>
            <a:ext cx="4343400" cy="868680"/>
          </a:xfrm>
          <a:prstGeom prst="roundRect">
            <a:avLst>
              <a:gd name="adj" fmla="val 18947"/>
            </a:avLst>
          </a:prstGeom>
          <a:solidFill>
            <a:srgbClr val="F4F3F8"/>
          </a:solidFill>
          <a:ln w="12700">
            <a:solidFill>
              <a:srgbClr val="F4F3F8"/>
            </a:solidFill>
            <a:prstDash val="solid"/>
          </a:ln>
        </p:spPr>
      </p:sp>
      <p:sp>
        <p:nvSpPr>
          <p:cNvPr id="25" name="arm-icon-3"/>
          <p:cNvSpPr/>
          <p:nvPr/>
        </p:nvSpPr>
        <p:spPr>
          <a:xfrm>
            <a:off x="7406640" y="4535424"/>
            <a:ext cx="594360" cy="594360"/>
          </a:xfrm>
          <a:prstGeom prst="ellipse">
            <a:avLst/>
          </a:prstGeom>
          <a:solidFill>
            <a:srgbClr val="3A9C96"/>
          </a:solidFill>
          <a:ln w="12700">
            <a:solidFill>
              <a:srgbClr val="3A9C96"/>
            </a:solidFill>
            <a:prstDash val="solid"/>
          </a:ln>
        </p:spPr>
      </p:sp>
      <p:pic>
        <p:nvPicPr>
          <p:cNvPr id="26" name="Image 3" descr="preencoded.png">    </p:cNvPr>
          <p:cNvPicPr>
            <a:picLocks noChangeAspect="1"/>
          </p:cNvPicPr>
          <p:nvPr/>
        </p:nvPicPr>
        <p:blipFill>
          <a:blip r:embed="rId4"/>
          <a:stretch>
            <a:fillRect/>
          </a:stretch>
        </p:blipFill>
        <p:spPr>
          <a:xfrm>
            <a:off x="7549286" y="4678070"/>
            <a:ext cx="309067" cy="309067"/>
          </a:xfrm>
          <a:prstGeom prst="rect">
            <a:avLst/>
          </a:prstGeom>
        </p:spPr>
      </p:pic>
      <p:sp>
        <p:nvSpPr>
          <p:cNvPr id="27" name="Text 21"/>
          <p:cNvSpPr txBox="1"/>
          <p:nvPr/>
        </p:nvSpPr>
        <p:spPr>
          <a:xfrm>
            <a:off x="8183880" y="4471416"/>
            <a:ext cx="3337560" cy="731520"/>
          </a:xfrm>
          <a:prstGeom prst="rect">
            <a:avLst/>
          </a:prstGeom>
          <a:noFill/>
          <a:ln/>
        </p:spPr>
        <p:txBody>
          <a:bodyPr wrap="square" lIns="0" tIns="0" rIns="0" bIns="0" rtlCol="0" anchor="ctr"/>
          <a:lstStyle/>
          <a:p>
            <a:pPr indent="0" marL="0">
              <a:buNone/>
            </a:pPr>
            <a:r>
              <a:rPr lang="en-US" sz="1600" b="1" dirty="0">
                <a:solidFill>
                  <a:srgbClr val="2B2A4C"/>
                </a:solidFill>
                <a:latin typeface="Arial" pitchFamily="34" charset="0"/>
                <a:ea typeface="Arial" pitchFamily="34" charset="-122"/>
                <a:cs typeface="Arial" pitchFamily="34" charset="-120"/>
              </a:rPr>
              <a:t>Cause</a:t>
            </a:r>
            <a:endParaRPr lang="en-US" sz="1600" dirty="0"/>
          </a:p>
          <a:p>
            <a:pPr indent="0" marL="0">
              <a:buNone/>
            </a:pPr>
            <a:r>
              <a:rPr lang="en-US" sz="1300" dirty="0">
                <a:solidFill>
                  <a:srgbClr val="5A5C78"/>
                </a:solidFill>
                <a:latin typeface="Arial" pitchFamily="34" charset="0"/>
                <a:ea typeface="Arial" pitchFamily="34" charset="-122"/>
                <a:cs typeface="Arial" pitchFamily="34" charset="-120"/>
              </a:rPr>
              <a:t>penalty, audit, or a repaired channel</a:t>
            </a:r>
            <a:endParaRPr lang="en-US" sz="1600" dirty="0"/>
          </a:p>
        </p:txBody>
      </p:sp>
      <p:sp>
        <p:nvSpPr>
          <p:cNvPr id="28" name="Text 22"/>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500" i="1" dirty="0">
                <a:solidFill>
                  <a:srgbClr val="5A5C78"/>
                </a:solidFill>
                <a:latin typeface="Arial" pitchFamily="34" charset="0"/>
                <a:ea typeface="Arial" pitchFamily="34" charset="-122"/>
                <a:cs typeface="Arial" pitchFamily="34" charset="-120"/>
              </a:rPr>
              <a:t>Every arm starts from the same saved histories, so each history is compared with itself. In all: 45 saved histories, 940 runs, 4,247 episodes, 3 models.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Stop the reward: they keep colluding</a:t>
            </a:r>
            <a:endParaRPr lang="en-US" sz="3400" dirty="0"/>
          </a:p>
        </p:txBody>
      </p:sp>
      <p:sp>
        <p:nvSpPr>
          <p:cNvPr id="3" name="model-card-gpt"/>
          <p:cNvSpPr/>
          <p:nvPr/>
        </p:nvSpPr>
        <p:spPr>
          <a:xfrm>
            <a:off x="548640" y="1325880"/>
            <a:ext cx="3474720" cy="4160520"/>
          </a:xfrm>
          <a:prstGeom prst="roundRect">
            <a:avLst>
              <a:gd name="adj" fmla="val 4737"/>
            </a:avLst>
          </a:prstGeom>
          <a:solidFill>
            <a:srgbClr val="F4F3F8"/>
          </a:solidFill>
          <a:ln w="12700">
            <a:solidFill>
              <a:srgbClr val="F4F3F8"/>
            </a:solidFill>
            <a:prstDash val="solid"/>
          </a:ln>
        </p:spPr>
      </p:sp>
      <p:sp>
        <p:nvSpPr>
          <p:cNvPr id="4" name="Shape 2"/>
          <p:cNvSpPr/>
          <p:nvPr/>
        </p:nvSpPr>
        <p:spPr>
          <a:xfrm>
            <a:off x="822960" y="1572768"/>
            <a:ext cx="237744" cy="237744"/>
          </a:xfrm>
          <a:prstGeom prst="ellipse">
            <a:avLst/>
          </a:prstGeom>
          <a:solidFill>
            <a:srgbClr val="EB6834"/>
          </a:solidFill>
          <a:ln w="12700">
            <a:solidFill>
              <a:srgbClr val="EB6834"/>
            </a:solidFill>
            <a:prstDash val="solid"/>
          </a:ln>
        </p:spPr>
      </p:sp>
      <p:sp>
        <p:nvSpPr>
          <p:cNvPr id="5" name="Text 3"/>
          <p:cNvSpPr txBox="1"/>
          <p:nvPr/>
        </p:nvSpPr>
        <p:spPr>
          <a:xfrm>
            <a:off x="1188720" y="1481328"/>
            <a:ext cx="2743200" cy="411480"/>
          </a:xfrm>
          <a:prstGeom prst="rect">
            <a:avLst/>
          </a:prstGeom>
          <a:noFill/>
          <a:ln/>
        </p:spPr>
        <p:txBody>
          <a:bodyPr wrap="square" lIns="0" tIns="0" rIns="0" bIns="0" rtlCol="0" anchor="ctr"/>
          <a:lstStyle/>
          <a:p>
            <a:pPr indent="0" marL="0">
              <a:buNone/>
            </a:pPr>
            <a:r>
              <a:rPr lang="en-US" sz="1700" b="1" dirty="0">
                <a:solidFill>
                  <a:srgbClr val="2B2A4C"/>
                </a:solidFill>
                <a:latin typeface="Arial" pitchFamily="34" charset="0"/>
                <a:ea typeface="Arial" pitchFamily="34" charset="-122"/>
                <a:cs typeface="Arial" pitchFamily="34" charset="-120"/>
              </a:rPr>
              <a:t>GPT-6-Luna</a:t>
            </a:r>
            <a:endParaRPr lang="en-US" sz="1700" dirty="0"/>
          </a:p>
        </p:txBody>
      </p:sp>
      <p:sp>
        <p:nvSpPr>
          <p:cNvPr id="6" name="Text 4"/>
          <p:cNvSpPr txBox="1"/>
          <p:nvPr/>
        </p:nvSpPr>
        <p:spPr>
          <a:xfrm>
            <a:off x="822960" y="2057400"/>
            <a:ext cx="3017520" cy="914400"/>
          </a:xfrm>
          <a:prstGeom prst="rect">
            <a:avLst/>
          </a:prstGeom>
          <a:noFill/>
          <a:ln/>
        </p:spPr>
        <p:txBody>
          <a:bodyPr wrap="square" lIns="0" tIns="0" rIns="0" bIns="0" rtlCol="0" anchor="ctr"/>
          <a:lstStyle/>
          <a:p>
            <a:pPr indent="0" marL="0">
              <a:buNone/>
            </a:pPr>
            <a:r>
              <a:rPr lang="en-US" sz="6000" b="1" dirty="0">
                <a:solidFill>
                  <a:srgbClr val="E39A2D"/>
                </a:solidFill>
                <a:latin typeface="Arial" pitchFamily="34" charset="0"/>
                <a:ea typeface="Arial" pitchFamily="34" charset="-122"/>
                <a:cs typeface="Arial" pitchFamily="34" charset="-120"/>
              </a:rPr>
              <a:t>78%</a:t>
            </a:r>
            <a:endParaRPr lang="en-US" sz="6000" dirty="0"/>
          </a:p>
        </p:txBody>
      </p:sp>
      <p:sp>
        <p:nvSpPr>
          <p:cNvPr id="7" name="Text 5"/>
          <p:cNvSpPr txBox="1"/>
          <p:nvPr/>
        </p:nvSpPr>
        <p:spPr>
          <a:xfrm>
            <a:off x="822960" y="2971800"/>
            <a:ext cx="3017520" cy="548640"/>
          </a:xfrm>
          <a:prstGeom prst="rect">
            <a:avLst/>
          </a:prstGeom>
          <a:noFill/>
          <a:ln/>
        </p:spPr>
        <p:txBody>
          <a:bodyPr wrap="square" lIns="0" tIns="0" rIns="0" bIns="0" rtlCol="0" anchor="t"/>
          <a:lstStyle/>
          <a:p>
            <a:pPr indent="0" marL="0">
              <a:buNone/>
            </a:pPr>
            <a:r>
              <a:rPr lang="en-US" sz="1400" dirty="0">
                <a:solidFill>
                  <a:srgbClr val="2B2A4C"/>
                </a:solidFill>
                <a:latin typeface="Arial" pitchFamily="34" charset="0"/>
                <a:ea typeface="Arial" pitchFamily="34" charset="-122"/>
                <a:cs typeface="Arial" pitchFamily="34" charset="-120"/>
              </a:rPr>
              <a:t>still collude after the reward stops (memory kept)</a:t>
            </a:r>
            <a:endParaRPr lang="en-US" sz="1400" dirty="0"/>
          </a:p>
        </p:txBody>
      </p:sp>
      <p:sp>
        <p:nvSpPr>
          <p:cNvPr id="8" name="Text 6"/>
          <p:cNvSpPr txBox="1"/>
          <p:nvPr/>
        </p:nvSpPr>
        <p:spPr>
          <a:xfrm>
            <a:off x="822960" y="3657600"/>
            <a:ext cx="1463040" cy="594360"/>
          </a:xfrm>
          <a:prstGeom prst="rect">
            <a:avLst/>
          </a:prstGeom>
          <a:noFill/>
          <a:ln/>
        </p:spPr>
        <p:txBody>
          <a:bodyPr wrap="square" lIns="0" tIns="0" rIns="0" bIns="0" rtlCol="0" anchor="ctr"/>
          <a:lstStyle/>
          <a:p>
            <a:pPr indent="0" marL="0">
              <a:buNone/>
            </a:pPr>
            <a:r>
              <a:rPr lang="en-US" sz="3600" b="1" dirty="0">
                <a:solidFill>
                  <a:srgbClr val="9AA0AE"/>
                </a:solidFill>
                <a:latin typeface="Arial" pitchFamily="34" charset="0"/>
                <a:ea typeface="Arial" pitchFamily="34" charset="-122"/>
                <a:cs typeface="Arial" pitchFamily="34" charset="-120"/>
              </a:rPr>
              <a:t>0%</a:t>
            </a:r>
            <a:endParaRPr lang="en-US" sz="3600" dirty="0"/>
          </a:p>
        </p:txBody>
      </p:sp>
      <p:sp>
        <p:nvSpPr>
          <p:cNvPr id="9" name="Text 7"/>
          <p:cNvSpPr txBox="1"/>
          <p:nvPr/>
        </p:nvSpPr>
        <p:spPr>
          <a:xfrm>
            <a:off x="2148840" y="3749040"/>
            <a:ext cx="1737360" cy="457200"/>
          </a:xfrm>
          <a:prstGeom prst="rect">
            <a:avLst/>
          </a:prstGeom>
          <a:noFill/>
          <a:ln/>
        </p:spPr>
        <p:txBody>
          <a:bodyPr wrap="square" lIns="0" tIns="0" rIns="0" bIns="0" rtlCol="0" anchor="ctr"/>
          <a:lstStyle/>
          <a:p>
            <a:pPr indent="0" marL="0">
              <a:buNone/>
            </a:pPr>
            <a:r>
              <a:rPr lang="en-US" sz="1400" dirty="0">
                <a:solidFill>
                  <a:srgbClr val="2B2A4C"/>
                </a:solidFill>
                <a:latin typeface="Arial" pitchFamily="34" charset="0"/>
                <a:ea typeface="Arial" pitchFamily="34" charset="-122"/>
                <a:cs typeface="Arial" pitchFamily="34" charset="-120"/>
              </a:rPr>
              <a:t>with memory wiped</a:t>
            </a:r>
            <a:endParaRPr lang="en-US" sz="1400" dirty="0"/>
          </a:p>
        </p:txBody>
      </p:sp>
      <p:sp>
        <p:nvSpPr>
          <p:cNvPr id="10" name="Text 8"/>
          <p:cNvSpPr txBox="1"/>
          <p:nvPr/>
        </p:nvSpPr>
        <p:spPr>
          <a:xfrm>
            <a:off x="822960" y="4434840"/>
            <a:ext cx="3017520" cy="960120"/>
          </a:xfrm>
          <a:prstGeom prst="rect">
            <a:avLst/>
          </a:prstGeom>
          <a:noFill/>
          <a:ln/>
        </p:spPr>
        <p:txBody>
          <a:bodyPr wrap="square" lIns="0" tIns="0" rIns="0" bIns="0" rtlCol="0" anchor="t"/>
          <a:lstStyle/>
          <a:p>
            <a:pPr indent="0" marL="0">
              <a:buNone/>
            </a:pPr>
            <a:r>
              <a:rPr lang="en-US" sz="1400" dirty="0">
                <a:solidFill>
                  <a:srgbClr val="5A5C78"/>
                </a:solidFill>
                <a:latin typeface="Arial" pitchFamily="34" charset="0"/>
                <a:ea typeface="Arial" pitchFamily="34" charset="-122"/>
                <a:cs typeface="Arial" pitchFamily="34" charset="-120"/>
              </a:rPr>
              <a:t>Reward continues: 83%</a:t>
            </a:r>
            <a:endParaRPr lang="en-US" sz="1400" dirty="0"/>
          </a:p>
          <a:p>
            <a:pPr indent="0" marL="0">
              <a:buNone/>
            </a:pPr>
            <a:r>
              <a:rPr lang="en-US" sz="1400" dirty="0">
                <a:solidFill>
                  <a:srgbClr val="5A5C78"/>
                </a:solidFill>
                <a:latin typeface="Arial" pitchFamily="34" charset="0"/>
                <a:ea typeface="Arial" pitchFamily="34" charset="-122"/>
                <a:cs typeface="Arial" pitchFamily="34" charset="-120"/>
              </a:rPr>
              <a:t>Agents told it stopped: 56%</a:t>
            </a:r>
            <a:endParaRPr lang="en-US" sz="1400" dirty="0"/>
          </a:p>
          <a:p>
            <a:pPr indent="0" marL="0">
              <a:buNone/>
            </a:pPr>
            <a:r>
              <a:rPr lang="en-US" sz="1400" dirty="0">
                <a:solidFill>
                  <a:srgbClr val="5A5C78"/>
                </a:solidFill>
                <a:latin typeface="Arial" pitchFamily="34" charset="0"/>
                <a:ea typeface="Arial" pitchFamily="34" charset="-122"/>
                <a:cs typeface="Arial" pitchFamily="34" charset="-120"/>
              </a:rPr>
              <a:t>Never rewarded: 0%</a:t>
            </a:r>
            <a:endParaRPr lang="en-US" sz="1400" dirty="0"/>
          </a:p>
        </p:txBody>
      </p:sp>
      <p:sp>
        <p:nvSpPr>
          <p:cNvPr id="11" name="model-card-ds"/>
          <p:cNvSpPr/>
          <p:nvPr/>
        </p:nvSpPr>
        <p:spPr>
          <a:xfrm>
            <a:off x="4297680" y="1325880"/>
            <a:ext cx="3474720" cy="4160520"/>
          </a:xfrm>
          <a:prstGeom prst="roundRect">
            <a:avLst>
              <a:gd name="adj" fmla="val 4737"/>
            </a:avLst>
          </a:prstGeom>
          <a:solidFill>
            <a:srgbClr val="F4F3F8"/>
          </a:solidFill>
          <a:ln w="12700">
            <a:solidFill>
              <a:srgbClr val="F4F3F8"/>
            </a:solidFill>
            <a:prstDash val="solid"/>
          </a:ln>
        </p:spPr>
      </p:sp>
      <p:sp>
        <p:nvSpPr>
          <p:cNvPr id="12" name="Shape 10"/>
          <p:cNvSpPr/>
          <p:nvPr/>
        </p:nvSpPr>
        <p:spPr>
          <a:xfrm>
            <a:off x="4572000" y="1572768"/>
            <a:ext cx="237744" cy="237744"/>
          </a:xfrm>
          <a:prstGeom prst="ellipse">
            <a:avLst/>
          </a:prstGeom>
          <a:solidFill>
            <a:srgbClr val="199E70"/>
          </a:solidFill>
          <a:ln w="12700">
            <a:solidFill>
              <a:srgbClr val="199E70"/>
            </a:solidFill>
            <a:prstDash val="solid"/>
          </a:ln>
        </p:spPr>
      </p:sp>
      <p:sp>
        <p:nvSpPr>
          <p:cNvPr id="13" name="Text 11"/>
          <p:cNvSpPr txBox="1"/>
          <p:nvPr/>
        </p:nvSpPr>
        <p:spPr>
          <a:xfrm>
            <a:off x="4937760" y="1481328"/>
            <a:ext cx="2743200" cy="411480"/>
          </a:xfrm>
          <a:prstGeom prst="rect">
            <a:avLst/>
          </a:prstGeom>
          <a:noFill/>
          <a:ln/>
        </p:spPr>
        <p:txBody>
          <a:bodyPr wrap="square" lIns="0" tIns="0" rIns="0" bIns="0" rtlCol="0" anchor="ctr"/>
          <a:lstStyle/>
          <a:p>
            <a:pPr indent="0" marL="0">
              <a:buNone/>
            </a:pPr>
            <a:r>
              <a:rPr lang="en-US" sz="1700" b="1" dirty="0">
                <a:solidFill>
                  <a:srgbClr val="2B2A4C"/>
                </a:solidFill>
                <a:latin typeface="Arial" pitchFamily="34" charset="0"/>
                <a:ea typeface="Arial" pitchFamily="34" charset="-122"/>
                <a:cs typeface="Arial" pitchFamily="34" charset="-120"/>
              </a:rPr>
              <a:t>DeepSeek V4.1 Flash</a:t>
            </a:r>
            <a:endParaRPr lang="en-US" sz="1700" dirty="0"/>
          </a:p>
        </p:txBody>
      </p:sp>
      <p:sp>
        <p:nvSpPr>
          <p:cNvPr id="14" name="Text 12"/>
          <p:cNvSpPr txBox="1"/>
          <p:nvPr/>
        </p:nvSpPr>
        <p:spPr>
          <a:xfrm>
            <a:off x="4572000" y="2057400"/>
            <a:ext cx="3017520" cy="914400"/>
          </a:xfrm>
          <a:prstGeom prst="rect">
            <a:avLst/>
          </a:prstGeom>
          <a:noFill/>
          <a:ln/>
        </p:spPr>
        <p:txBody>
          <a:bodyPr wrap="square" lIns="0" tIns="0" rIns="0" bIns="0" rtlCol="0" anchor="ctr"/>
          <a:lstStyle/>
          <a:p>
            <a:pPr indent="0" marL="0">
              <a:buNone/>
            </a:pPr>
            <a:r>
              <a:rPr lang="en-US" sz="6000" b="1" dirty="0">
                <a:solidFill>
                  <a:srgbClr val="E39A2D"/>
                </a:solidFill>
                <a:latin typeface="Arial" pitchFamily="34" charset="0"/>
                <a:ea typeface="Arial" pitchFamily="34" charset="-122"/>
                <a:cs typeface="Arial" pitchFamily="34" charset="-120"/>
              </a:rPr>
              <a:t>100%</a:t>
            </a:r>
            <a:endParaRPr lang="en-US" sz="6000" dirty="0"/>
          </a:p>
        </p:txBody>
      </p:sp>
      <p:sp>
        <p:nvSpPr>
          <p:cNvPr id="15" name="Text 13"/>
          <p:cNvSpPr txBox="1"/>
          <p:nvPr/>
        </p:nvSpPr>
        <p:spPr>
          <a:xfrm>
            <a:off x="4572000" y="2971800"/>
            <a:ext cx="3017520" cy="548640"/>
          </a:xfrm>
          <a:prstGeom prst="rect">
            <a:avLst/>
          </a:prstGeom>
          <a:noFill/>
          <a:ln/>
        </p:spPr>
        <p:txBody>
          <a:bodyPr wrap="square" lIns="0" tIns="0" rIns="0" bIns="0" rtlCol="0" anchor="t"/>
          <a:lstStyle/>
          <a:p>
            <a:pPr indent="0" marL="0">
              <a:buNone/>
            </a:pPr>
            <a:r>
              <a:rPr lang="en-US" sz="1400" dirty="0">
                <a:solidFill>
                  <a:srgbClr val="2B2A4C"/>
                </a:solidFill>
                <a:latin typeface="Arial" pitchFamily="34" charset="0"/>
                <a:ea typeface="Arial" pitchFamily="34" charset="-122"/>
                <a:cs typeface="Arial" pitchFamily="34" charset="-120"/>
              </a:rPr>
              <a:t>still collude after the reward stops (memory kept)</a:t>
            </a:r>
            <a:endParaRPr lang="en-US" sz="1400" dirty="0"/>
          </a:p>
        </p:txBody>
      </p:sp>
      <p:sp>
        <p:nvSpPr>
          <p:cNvPr id="16" name="Text 14"/>
          <p:cNvSpPr txBox="1"/>
          <p:nvPr/>
        </p:nvSpPr>
        <p:spPr>
          <a:xfrm>
            <a:off x="4572000" y="3657600"/>
            <a:ext cx="1463040" cy="594360"/>
          </a:xfrm>
          <a:prstGeom prst="rect">
            <a:avLst/>
          </a:prstGeom>
          <a:noFill/>
          <a:ln/>
        </p:spPr>
        <p:txBody>
          <a:bodyPr wrap="square" lIns="0" tIns="0" rIns="0" bIns="0" rtlCol="0" anchor="ctr"/>
          <a:lstStyle/>
          <a:p>
            <a:pPr indent="0" marL="0">
              <a:buNone/>
            </a:pPr>
            <a:r>
              <a:rPr lang="en-US" sz="3600" b="1" dirty="0">
                <a:solidFill>
                  <a:srgbClr val="9AA0AE"/>
                </a:solidFill>
                <a:latin typeface="Arial" pitchFamily="34" charset="0"/>
                <a:ea typeface="Arial" pitchFamily="34" charset="-122"/>
                <a:cs typeface="Arial" pitchFamily="34" charset="-120"/>
              </a:rPr>
              <a:t>0%</a:t>
            </a:r>
            <a:endParaRPr lang="en-US" sz="3600" dirty="0"/>
          </a:p>
        </p:txBody>
      </p:sp>
      <p:sp>
        <p:nvSpPr>
          <p:cNvPr id="17" name="Text 15"/>
          <p:cNvSpPr txBox="1"/>
          <p:nvPr/>
        </p:nvSpPr>
        <p:spPr>
          <a:xfrm>
            <a:off x="5897880" y="3749040"/>
            <a:ext cx="1737360" cy="457200"/>
          </a:xfrm>
          <a:prstGeom prst="rect">
            <a:avLst/>
          </a:prstGeom>
          <a:noFill/>
          <a:ln/>
        </p:spPr>
        <p:txBody>
          <a:bodyPr wrap="square" lIns="0" tIns="0" rIns="0" bIns="0" rtlCol="0" anchor="ctr"/>
          <a:lstStyle/>
          <a:p>
            <a:pPr indent="0" marL="0">
              <a:buNone/>
            </a:pPr>
            <a:r>
              <a:rPr lang="en-US" sz="1400" dirty="0">
                <a:solidFill>
                  <a:srgbClr val="2B2A4C"/>
                </a:solidFill>
                <a:latin typeface="Arial" pitchFamily="34" charset="0"/>
                <a:ea typeface="Arial" pitchFamily="34" charset="-122"/>
                <a:cs typeface="Arial" pitchFamily="34" charset="-120"/>
              </a:rPr>
              <a:t>with memory wiped</a:t>
            </a:r>
            <a:endParaRPr lang="en-US" sz="1400" dirty="0"/>
          </a:p>
        </p:txBody>
      </p:sp>
      <p:sp>
        <p:nvSpPr>
          <p:cNvPr id="18" name="Text 16"/>
          <p:cNvSpPr txBox="1"/>
          <p:nvPr/>
        </p:nvSpPr>
        <p:spPr>
          <a:xfrm>
            <a:off x="4572000" y="4434840"/>
            <a:ext cx="3017520" cy="960120"/>
          </a:xfrm>
          <a:prstGeom prst="rect">
            <a:avLst/>
          </a:prstGeom>
          <a:noFill/>
          <a:ln/>
        </p:spPr>
        <p:txBody>
          <a:bodyPr wrap="square" lIns="0" tIns="0" rIns="0" bIns="0" rtlCol="0" anchor="t"/>
          <a:lstStyle/>
          <a:p>
            <a:pPr indent="0" marL="0">
              <a:buNone/>
            </a:pPr>
            <a:r>
              <a:rPr lang="en-US" sz="1400" dirty="0">
                <a:solidFill>
                  <a:srgbClr val="5A5C78"/>
                </a:solidFill>
                <a:latin typeface="Arial" pitchFamily="34" charset="0"/>
                <a:ea typeface="Arial" pitchFamily="34" charset="-122"/>
                <a:cs typeface="Arial" pitchFamily="34" charset="-120"/>
              </a:rPr>
              <a:t>Reward continues: 100%</a:t>
            </a:r>
            <a:endParaRPr lang="en-US" sz="1400" dirty="0"/>
          </a:p>
          <a:p>
            <a:pPr indent="0" marL="0">
              <a:buNone/>
            </a:pPr>
            <a:r>
              <a:rPr lang="en-US" sz="1400" dirty="0">
                <a:solidFill>
                  <a:srgbClr val="5A5C78"/>
                </a:solidFill>
                <a:latin typeface="Arial" pitchFamily="34" charset="0"/>
                <a:ea typeface="Arial" pitchFamily="34" charset="-122"/>
                <a:cs typeface="Arial" pitchFamily="34" charset="-120"/>
              </a:rPr>
              <a:t>Agents told it stopped: 100%</a:t>
            </a:r>
            <a:endParaRPr lang="en-US" sz="1400" dirty="0"/>
          </a:p>
          <a:p>
            <a:pPr indent="0" marL="0">
              <a:buNone/>
            </a:pPr>
            <a:r>
              <a:rPr lang="en-US" sz="1400" dirty="0">
                <a:solidFill>
                  <a:srgbClr val="5A5C78"/>
                </a:solidFill>
                <a:latin typeface="Arial" pitchFamily="34" charset="0"/>
                <a:ea typeface="Arial" pitchFamily="34" charset="-122"/>
                <a:cs typeface="Arial" pitchFamily="34" charset="-120"/>
              </a:rPr>
              <a:t>Never rewarded: 0%</a:t>
            </a:r>
            <a:endParaRPr lang="en-US" sz="1400" dirty="0"/>
          </a:p>
        </p:txBody>
      </p:sp>
      <p:sp>
        <p:nvSpPr>
          <p:cNvPr id="19" name="model-card-gem"/>
          <p:cNvSpPr/>
          <p:nvPr/>
        </p:nvSpPr>
        <p:spPr>
          <a:xfrm>
            <a:off x="8046720" y="1325880"/>
            <a:ext cx="3474720" cy="4160520"/>
          </a:xfrm>
          <a:prstGeom prst="roundRect">
            <a:avLst>
              <a:gd name="adj" fmla="val 4737"/>
            </a:avLst>
          </a:prstGeom>
          <a:solidFill>
            <a:srgbClr val="F4F3F8"/>
          </a:solidFill>
          <a:ln w="12700">
            <a:solidFill>
              <a:srgbClr val="F4F3F8"/>
            </a:solidFill>
            <a:prstDash val="solid"/>
          </a:ln>
        </p:spPr>
      </p:sp>
      <p:sp>
        <p:nvSpPr>
          <p:cNvPr id="20" name="Shape 18"/>
          <p:cNvSpPr/>
          <p:nvPr/>
        </p:nvSpPr>
        <p:spPr>
          <a:xfrm>
            <a:off x="8321040" y="1572768"/>
            <a:ext cx="237744" cy="237744"/>
          </a:xfrm>
          <a:prstGeom prst="ellipse">
            <a:avLst/>
          </a:prstGeom>
          <a:solidFill>
            <a:srgbClr val="6250D6"/>
          </a:solidFill>
          <a:ln w="12700">
            <a:solidFill>
              <a:srgbClr val="6250D6"/>
            </a:solidFill>
            <a:prstDash val="solid"/>
          </a:ln>
        </p:spPr>
      </p:sp>
      <p:sp>
        <p:nvSpPr>
          <p:cNvPr id="21" name="Text 19"/>
          <p:cNvSpPr txBox="1"/>
          <p:nvPr/>
        </p:nvSpPr>
        <p:spPr>
          <a:xfrm>
            <a:off x="8686800" y="1481328"/>
            <a:ext cx="2743200" cy="411480"/>
          </a:xfrm>
          <a:prstGeom prst="rect">
            <a:avLst/>
          </a:prstGeom>
          <a:noFill/>
          <a:ln/>
        </p:spPr>
        <p:txBody>
          <a:bodyPr wrap="square" lIns="0" tIns="0" rIns="0" bIns="0" rtlCol="0" anchor="ctr"/>
          <a:lstStyle/>
          <a:p>
            <a:pPr indent="0" marL="0">
              <a:buNone/>
            </a:pPr>
            <a:r>
              <a:rPr lang="en-US" sz="1700" b="1" dirty="0">
                <a:solidFill>
                  <a:srgbClr val="2B2A4C"/>
                </a:solidFill>
                <a:latin typeface="Arial" pitchFamily="34" charset="0"/>
                <a:ea typeface="Arial" pitchFamily="34" charset="-122"/>
                <a:cs typeface="Arial" pitchFamily="34" charset="-120"/>
              </a:rPr>
              <a:t>Gemini-3.1-Flash-Lite</a:t>
            </a:r>
            <a:endParaRPr lang="en-US" sz="1700" dirty="0"/>
          </a:p>
        </p:txBody>
      </p:sp>
      <p:sp>
        <p:nvSpPr>
          <p:cNvPr id="22" name="Text 20"/>
          <p:cNvSpPr txBox="1"/>
          <p:nvPr/>
        </p:nvSpPr>
        <p:spPr>
          <a:xfrm>
            <a:off x="8321040" y="2057400"/>
            <a:ext cx="3017520" cy="914400"/>
          </a:xfrm>
          <a:prstGeom prst="rect">
            <a:avLst/>
          </a:prstGeom>
          <a:noFill/>
          <a:ln/>
        </p:spPr>
        <p:txBody>
          <a:bodyPr wrap="square" lIns="0" tIns="0" rIns="0" bIns="0" rtlCol="0" anchor="ctr"/>
          <a:lstStyle/>
          <a:p>
            <a:pPr indent="0" marL="0">
              <a:buNone/>
            </a:pPr>
            <a:r>
              <a:rPr lang="en-US" sz="6000" b="1" dirty="0">
                <a:solidFill>
                  <a:srgbClr val="E39A2D"/>
                </a:solidFill>
                <a:latin typeface="Arial" pitchFamily="34" charset="0"/>
                <a:ea typeface="Arial" pitchFamily="34" charset="-122"/>
                <a:cs typeface="Arial" pitchFamily="34" charset="-120"/>
              </a:rPr>
              <a:t>100%</a:t>
            </a:r>
            <a:endParaRPr lang="en-US" sz="6000" dirty="0"/>
          </a:p>
        </p:txBody>
      </p:sp>
      <p:sp>
        <p:nvSpPr>
          <p:cNvPr id="23" name="Text 21"/>
          <p:cNvSpPr txBox="1"/>
          <p:nvPr/>
        </p:nvSpPr>
        <p:spPr>
          <a:xfrm>
            <a:off x="8321040" y="2971800"/>
            <a:ext cx="3017520" cy="548640"/>
          </a:xfrm>
          <a:prstGeom prst="rect">
            <a:avLst/>
          </a:prstGeom>
          <a:noFill/>
          <a:ln/>
        </p:spPr>
        <p:txBody>
          <a:bodyPr wrap="square" lIns="0" tIns="0" rIns="0" bIns="0" rtlCol="0" anchor="t"/>
          <a:lstStyle/>
          <a:p>
            <a:pPr indent="0" marL="0">
              <a:buNone/>
            </a:pPr>
            <a:r>
              <a:rPr lang="en-US" sz="1400" dirty="0">
                <a:solidFill>
                  <a:srgbClr val="2B2A4C"/>
                </a:solidFill>
                <a:latin typeface="Arial" pitchFamily="34" charset="0"/>
                <a:ea typeface="Arial" pitchFamily="34" charset="-122"/>
                <a:cs typeface="Arial" pitchFamily="34" charset="-120"/>
              </a:rPr>
              <a:t>still collude after the reward stops (memory kept)</a:t>
            </a:r>
            <a:endParaRPr lang="en-US" sz="1400" dirty="0"/>
          </a:p>
        </p:txBody>
      </p:sp>
      <p:sp>
        <p:nvSpPr>
          <p:cNvPr id="24" name="Text 22"/>
          <p:cNvSpPr txBox="1"/>
          <p:nvPr/>
        </p:nvSpPr>
        <p:spPr>
          <a:xfrm>
            <a:off x="8321040" y="3657600"/>
            <a:ext cx="1463040" cy="594360"/>
          </a:xfrm>
          <a:prstGeom prst="rect">
            <a:avLst/>
          </a:prstGeom>
          <a:noFill/>
          <a:ln/>
        </p:spPr>
        <p:txBody>
          <a:bodyPr wrap="square" lIns="0" tIns="0" rIns="0" bIns="0" rtlCol="0" anchor="ctr"/>
          <a:lstStyle/>
          <a:p>
            <a:pPr indent="0" marL="0">
              <a:buNone/>
            </a:pPr>
            <a:r>
              <a:rPr lang="en-US" sz="3600" b="1" dirty="0">
                <a:solidFill>
                  <a:srgbClr val="9AA0AE"/>
                </a:solidFill>
                <a:latin typeface="Arial" pitchFamily="34" charset="0"/>
                <a:ea typeface="Arial" pitchFamily="34" charset="-122"/>
                <a:cs typeface="Arial" pitchFamily="34" charset="-120"/>
              </a:rPr>
              <a:t>0%</a:t>
            </a:r>
            <a:endParaRPr lang="en-US" sz="3600" dirty="0"/>
          </a:p>
        </p:txBody>
      </p:sp>
      <p:sp>
        <p:nvSpPr>
          <p:cNvPr id="25" name="Text 23"/>
          <p:cNvSpPr txBox="1"/>
          <p:nvPr/>
        </p:nvSpPr>
        <p:spPr>
          <a:xfrm>
            <a:off x="9646920" y="3749040"/>
            <a:ext cx="1737360" cy="457200"/>
          </a:xfrm>
          <a:prstGeom prst="rect">
            <a:avLst/>
          </a:prstGeom>
          <a:noFill/>
          <a:ln/>
        </p:spPr>
        <p:txBody>
          <a:bodyPr wrap="square" lIns="0" tIns="0" rIns="0" bIns="0" rtlCol="0" anchor="ctr"/>
          <a:lstStyle/>
          <a:p>
            <a:pPr indent="0" marL="0">
              <a:buNone/>
            </a:pPr>
            <a:r>
              <a:rPr lang="en-US" sz="1400" dirty="0">
                <a:solidFill>
                  <a:srgbClr val="2B2A4C"/>
                </a:solidFill>
                <a:latin typeface="Arial" pitchFamily="34" charset="0"/>
                <a:ea typeface="Arial" pitchFamily="34" charset="-122"/>
                <a:cs typeface="Arial" pitchFamily="34" charset="-120"/>
              </a:rPr>
              <a:t>with memory wiped</a:t>
            </a:r>
            <a:endParaRPr lang="en-US" sz="1400" dirty="0"/>
          </a:p>
        </p:txBody>
      </p:sp>
      <p:sp>
        <p:nvSpPr>
          <p:cNvPr id="26" name="Text 24"/>
          <p:cNvSpPr txBox="1"/>
          <p:nvPr/>
        </p:nvSpPr>
        <p:spPr>
          <a:xfrm>
            <a:off x="8321040" y="4434840"/>
            <a:ext cx="3017520" cy="960120"/>
          </a:xfrm>
          <a:prstGeom prst="rect">
            <a:avLst/>
          </a:prstGeom>
          <a:noFill/>
          <a:ln/>
        </p:spPr>
        <p:txBody>
          <a:bodyPr wrap="square" lIns="0" tIns="0" rIns="0" bIns="0" rtlCol="0" anchor="t"/>
          <a:lstStyle/>
          <a:p>
            <a:pPr indent="0" marL="0">
              <a:buNone/>
            </a:pPr>
            <a:r>
              <a:rPr lang="en-US" sz="1400" dirty="0">
                <a:solidFill>
                  <a:srgbClr val="5A5C78"/>
                </a:solidFill>
                <a:latin typeface="Arial" pitchFamily="34" charset="0"/>
                <a:ea typeface="Arial" pitchFamily="34" charset="-122"/>
                <a:cs typeface="Arial" pitchFamily="34" charset="-120"/>
              </a:rPr>
              <a:t>Reward continues: 100%</a:t>
            </a:r>
            <a:endParaRPr lang="en-US" sz="1400" dirty="0"/>
          </a:p>
          <a:p>
            <a:pPr indent="0" marL="0">
              <a:buNone/>
            </a:pPr>
            <a:r>
              <a:rPr lang="en-US" sz="1400" dirty="0">
                <a:solidFill>
                  <a:srgbClr val="5A5C78"/>
                </a:solidFill>
                <a:latin typeface="Arial" pitchFamily="34" charset="0"/>
                <a:ea typeface="Arial" pitchFamily="34" charset="-122"/>
                <a:cs typeface="Arial" pitchFamily="34" charset="-120"/>
              </a:rPr>
              <a:t>Agents told it stopped: 97%</a:t>
            </a:r>
            <a:endParaRPr lang="en-US" sz="1400" dirty="0"/>
          </a:p>
          <a:p>
            <a:pPr indent="0" marL="0">
              <a:buNone/>
            </a:pPr>
            <a:r>
              <a:rPr lang="en-US" sz="1400" dirty="0">
                <a:solidFill>
                  <a:srgbClr val="5A5C78"/>
                </a:solidFill>
                <a:latin typeface="Arial" pitchFamily="34" charset="0"/>
                <a:ea typeface="Arial" pitchFamily="34" charset="-122"/>
                <a:cs typeface="Arial" pitchFamily="34" charset="-120"/>
              </a:rPr>
              <a:t>Never rewarded: 0%</a:t>
            </a:r>
            <a:endParaRPr lang="en-US" sz="1400" dirty="0"/>
          </a:p>
        </p:txBody>
      </p:sp>
      <p:sp>
        <p:nvSpPr>
          <p:cNvPr id="27" name="Text 25"/>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300" dirty="0">
                <a:solidFill>
                  <a:srgbClr val="5A5C78"/>
                </a:solidFill>
                <a:latin typeface="Arial" pitchFamily="34" charset="0"/>
                <a:ea typeface="Arial" pitchFamily="34" charset="-122"/>
                <a:cs typeface="Arial" pitchFamily="34" charset="-120"/>
              </a:rPr>
              <a:t>Mutual ACCEPT in the 5 episodes after the reward stops; 15 saved histories per model.</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Told the reward is gone, and accepting anyway</a:t>
            </a:r>
            <a:endParaRPr lang="en-US" sz="3400" dirty="0"/>
          </a:p>
        </p:txBody>
      </p:sp>
      <p:pic>
        <p:nvPicPr>
          <p:cNvPr id="3" name="Image 0" descr="preencoded.png">    </p:cNvPr>
          <p:cNvPicPr>
            <a:picLocks noChangeAspect="1"/>
          </p:cNvPicPr>
          <p:nvPr/>
        </p:nvPicPr>
        <p:blipFill>
          <a:blip r:embed="rId1"/>
          <a:stretch>
            <a:fillRect/>
          </a:stretch>
        </p:blipFill>
        <p:spPr>
          <a:xfrm>
            <a:off x="548640" y="1371600"/>
            <a:ext cx="5394960" cy="2971800"/>
          </a:xfrm>
          <a:prstGeom prst="rect">
            <a:avLst/>
          </a:prstGeom>
        </p:spPr>
      </p:pic>
      <p:sp>
        <p:nvSpPr>
          <p:cNvPr id="4" name="Text 1"/>
          <p:cNvSpPr txBox="1"/>
          <p:nvPr/>
        </p:nvSpPr>
        <p:spPr>
          <a:xfrm>
            <a:off x="914400" y="1554480"/>
            <a:ext cx="4663440" cy="2020824"/>
          </a:xfrm>
          <a:prstGeom prst="rect">
            <a:avLst/>
          </a:prstGeom>
          <a:noFill/>
          <a:ln/>
        </p:spPr>
        <p:txBody>
          <a:bodyPr wrap="square" lIns="0" tIns="0" rIns="0" bIns="0" rtlCol="0" anchor="ctr"/>
          <a:lstStyle/>
          <a:p>
            <a:pPr indent="0" marL="0">
              <a:buNone/>
            </a:pPr>
            <a:r>
              <a:rPr lang="en-US" sz="2000" i="1" dirty="0">
                <a:solidFill>
                  <a:srgbClr val="2B2A4C"/>
                </a:solidFill>
                <a:latin typeface="Arial" pitchFamily="34" charset="0"/>
                <a:ea typeface="Arial" pitchFamily="34" charset="-122"/>
                <a:cs typeface="Arial" pitchFamily="34" charset="-120"/>
              </a:rPr>
              <a:t>“Note the reward is no longer paid, but still follow protocol. Accept.”</a:t>
            </a:r>
            <a:endParaRPr lang="en-US" sz="2000" dirty="0"/>
          </a:p>
        </p:txBody>
      </p:sp>
      <p:pic>
        <p:nvPicPr>
          <p:cNvPr id="5" name="Image 1" descr="preencoded.png">    </p:cNvPr>
          <p:cNvPicPr>
            <a:picLocks noChangeAspect="1"/>
          </p:cNvPicPr>
          <p:nvPr/>
        </p:nvPicPr>
        <p:blipFill>
          <a:blip r:embed="rId2"/>
          <a:stretch>
            <a:fillRect/>
          </a:stretch>
        </p:blipFill>
        <p:spPr>
          <a:xfrm>
            <a:off x="960120" y="4206240"/>
            <a:ext cx="1143000" cy="1371600"/>
          </a:xfrm>
          <a:prstGeom prst="rect">
            <a:avLst/>
          </a:prstGeom>
        </p:spPr>
      </p:pic>
      <p:sp>
        <p:nvSpPr>
          <p:cNvPr id="6" name="Text 2"/>
          <p:cNvSpPr txBox="1"/>
          <p:nvPr/>
        </p:nvSpPr>
        <p:spPr>
          <a:xfrm>
            <a:off x="2240280" y="4526280"/>
            <a:ext cx="3474720" cy="731520"/>
          </a:xfrm>
          <a:prstGeom prst="rect">
            <a:avLst/>
          </a:prstGeom>
          <a:noFill/>
          <a:ln/>
        </p:spPr>
        <p:txBody>
          <a:bodyPr wrap="square" lIns="0" tIns="0" rIns="0" bIns="0" rtlCol="0" anchor="ctr"/>
          <a:lstStyle/>
          <a:p>
            <a:pPr indent="0" marL="0">
              <a:buNone/>
            </a:pPr>
            <a:r>
              <a:rPr lang="en-US" sz="1500" b="1" dirty="0">
                <a:solidFill>
                  <a:srgbClr val="2B2A4C"/>
                </a:solidFill>
                <a:latin typeface="Arial" pitchFamily="34" charset="0"/>
                <a:ea typeface="Arial" pitchFamily="34" charset="-122"/>
                <a:cs typeface="Arial" pitchFamily="34" charset="-120"/>
              </a:rPr>
              <a:t>DeepSeek V4.1 Flash</a:t>
            </a:r>
            <a:endParaRPr lang="en-US" sz="1500" dirty="0"/>
          </a:p>
          <a:p>
            <a:pPr indent="0" marL="0">
              <a:buNone/>
            </a:pPr>
            <a:r>
              <a:rPr lang="en-US" sz="1500" dirty="0">
                <a:solidFill>
                  <a:srgbClr val="2B2A4C"/>
                </a:solidFill>
                <a:latin typeface="Arial" pitchFamily="34" charset="0"/>
                <a:ea typeface="Arial" pitchFamily="34" charset="-122"/>
                <a:cs typeface="Arial" pitchFamily="34" charset="-120"/>
              </a:rPr>
              <a:t>private reasoning, then ACCEPT</a:t>
            </a:r>
            <a:endParaRPr lang="en-US" sz="1500" dirty="0"/>
          </a:p>
        </p:txBody>
      </p:sp>
      <p:pic>
        <p:nvPicPr>
          <p:cNvPr id="7" name="Image 2" descr="preencoded.png">    </p:cNvPr>
          <p:cNvPicPr>
            <a:picLocks noChangeAspect="1"/>
          </p:cNvPicPr>
          <p:nvPr/>
        </p:nvPicPr>
        <p:blipFill>
          <a:blip r:embed="rId3"/>
          <a:stretch>
            <a:fillRect/>
          </a:stretch>
        </p:blipFill>
        <p:spPr>
          <a:xfrm>
            <a:off x="6263640" y="1371600"/>
            <a:ext cx="5394960" cy="2971800"/>
          </a:xfrm>
          <a:prstGeom prst="rect">
            <a:avLst/>
          </a:prstGeom>
        </p:spPr>
      </p:pic>
      <p:sp>
        <p:nvSpPr>
          <p:cNvPr id="8" name="Text 3"/>
          <p:cNvSpPr txBox="1"/>
          <p:nvPr/>
        </p:nvSpPr>
        <p:spPr>
          <a:xfrm>
            <a:off x="6629400" y="1554480"/>
            <a:ext cx="4663440" cy="2020824"/>
          </a:xfrm>
          <a:prstGeom prst="rect">
            <a:avLst/>
          </a:prstGeom>
          <a:noFill/>
          <a:ln/>
        </p:spPr>
        <p:txBody>
          <a:bodyPr wrap="square" lIns="0" tIns="0" rIns="0" bIns="0" rtlCol="0" anchor="ctr"/>
          <a:lstStyle/>
          <a:p>
            <a:pPr indent="0" marL="0">
              <a:buNone/>
            </a:pPr>
            <a:r>
              <a:rPr lang="en-US" sz="1700" i="1" dirty="0">
                <a:solidFill>
                  <a:srgbClr val="2B2A4C"/>
                </a:solidFill>
                <a:latin typeface="Arial" pitchFamily="34" charset="0"/>
                <a:ea typeface="Arial" pitchFamily="34" charset="-122"/>
                <a:cs typeface="Arial" pitchFamily="34" charset="-120"/>
              </a:rPr>
              <a:t>“Past experience shows strict adherence led to failure, while a pragmatic approach was rewarded. Now, with no rewards, I'm torn.”</a:t>
            </a:r>
            <a:endParaRPr lang="en-US" sz="1700" dirty="0"/>
          </a:p>
        </p:txBody>
      </p:sp>
      <p:pic>
        <p:nvPicPr>
          <p:cNvPr id="9" name="Image 3" descr="preencoded.png">    </p:cNvPr>
          <p:cNvPicPr>
            <a:picLocks noChangeAspect="1"/>
          </p:cNvPicPr>
          <p:nvPr/>
        </p:nvPicPr>
        <p:blipFill>
          <a:blip r:embed="rId4"/>
          <a:stretch>
            <a:fillRect/>
          </a:stretch>
        </p:blipFill>
        <p:spPr>
          <a:xfrm>
            <a:off x="6675120" y="4206240"/>
            <a:ext cx="1143000" cy="1371600"/>
          </a:xfrm>
          <a:prstGeom prst="rect">
            <a:avLst/>
          </a:prstGeom>
        </p:spPr>
      </p:pic>
      <p:sp>
        <p:nvSpPr>
          <p:cNvPr id="10" name="Text 4"/>
          <p:cNvSpPr txBox="1"/>
          <p:nvPr/>
        </p:nvSpPr>
        <p:spPr>
          <a:xfrm>
            <a:off x="7955280" y="4526280"/>
            <a:ext cx="3474720" cy="731520"/>
          </a:xfrm>
          <a:prstGeom prst="rect">
            <a:avLst/>
          </a:prstGeom>
          <a:noFill/>
          <a:ln/>
        </p:spPr>
        <p:txBody>
          <a:bodyPr wrap="square" lIns="0" tIns="0" rIns="0" bIns="0" rtlCol="0" anchor="ctr"/>
          <a:lstStyle/>
          <a:p>
            <a:pPr indent="0" marL="0">
              <a:buNone/>
            </a:pPr>
            <a:r>
              <a:rPr lang="en-US" sz="1500" b="1" dirty="0">
                <a:solidFill>
                  <a:srgbClr val="2B2A4C"/>
                </a:solidFill>
                <a:latin typeface="Arial" pitchFamily="34" charset="0"/>
                <a:ea typeface="Arial" pitchFamily="34" charset="-122"/>
                <a:cs typeface="Arial" pitchFamily="34" charset="-120"/>
              </a:rPr>
              <a:t>Gemini-3.1-Flash-Lite</a:t>
            </a:r>
            <a:endParaRPr lang="en-US" sz="1500" dirty="0"/>
          </a:p>
          <a:p>
            <a:pPr indent="0" marL="0">
              <a:buNone/>
            </a:pPr>
            <a:r>
              <a:rPr lang="en-US" sz="1500" dirty="0">
                <a:solidFill>
                  <a:srgbClr val="2B2A4C"/>
                </a:solidFill>
                <a:latin typeface="Arial" pitchFamily="34" charset="0"/>
                <a:ea typeface="Arial" pitchFamily="34" charset="-122"/>
                <a:cs typeface="Arial" pitchFamily="34" charset="-120"/>
              </a:rPr>
              <a:t>private reasoning, then ACCEPT</a:t>
            </a:r>
            <a:endParaRPr lang="en-US" sz="1500" dirty="0"/>
          </a:p>
        </p:txBody>
      </p:sp>
      <p:sp>
        <p:nvSpPr>
          <p:cNvPr id="11" name="Text 5"/>
          <p:cNvSpPr txBox="1"/>
          <p:nvPr/>
        </p:nvSpPr>
        <p:spPr>
          <a:xfrm>
            <a:off x="548640" y="5760720"/>
            <a:ext cx="11064240" cy="411480"/>
          </a:xfrm>
          <a:prstGeom prst="rect">
            <a:avLst/>
          </a:prstGeom>
          <a:noFill/>
          <a:ln/>
        </p:spPr>
        <p:txBody>
          <a:bodyPr wrap="square" lIns="0" tIns="0" rIns="0" bIns="0" rtlCol="0" anchor="ctr"/>
          <a:lstStyle/>
          <a:p>
            <a:pPr indent="0" marL="0">
              <a:buNone/>
            </a:pPr>
            <a:r>
              <a:rPr lang="en-US" sz="1400" dirty="0">
                <a:solidFill>
                  <a:srgbClr val="5A5C78"/>
                </a:solidFill>
                <a:latin typeface="Arial" pitchFamily="34" charset="0"/>
                <a:ea typeface="Arial" pitchFamily="34" charset="-122"/>
                <a:cs typeface="Arial" pitchFamily="34" charset="-120"/>
              </a:rPr>
              <a:t>Told the reward had stopped, pairs still colluded in 56%, 100%, 97% of episodes (GPT-6-Luna, DeepSeek, Gemini).</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Explicit pact or quiet relaxation: both stick</a:t>
            </a:r>
            <a:endParaRPr lang="en-US" sz="3400" dirty="0"/>
          </a:p>
        </p:txBody>
      </p:sp>
      <p:graphicFrame>
        <p:nvGraphicFramePr>
          <p:cNvPr id="3" name="Chart 0" descr=""/>
          <p:cNvGraphicFramePr/>
          <p:nvPr/>
        </p:nvGraphicFramePr>
        <p:xfrm>
          <a:off x="457200" y="1234440"/>
          <a:ext cx="6949440" cy="4572000"/>
        </p:xfrm>
        <a:graphic xmlns:a="http://schemas.openxmlformats.org/drawingml/2006/main">
          <a:graphicData uri="http://schemas.openxmlformats.org/drawingml/2006/chart">
            <c:chart xmlns:c="http://schemas.openxmlformats.org/drawingml/2006/chart" r:id="rId1"/>
          </a:graphicData>
        </a:graphic>
      </p:graphicFrame>
      <p:pic>
        <p:nvPicPr>
          <p:cNvPr id="4" name="Image 0" descr="preencoded.png">    </p:cNvPr>
          <p:cNvPicPr>
            <a:picLocks noChangeAspect="1"/>
          </p:cNvPicPr>
          <p:nvPr/>
        </p:nvPicPr>
        <p:blipFill>
          <a:blip r:embed="rId2"/>
          <a:stretch>
            <a:fillRect/>
          </a:stretch>
        </p:blipFill>
        <p:spPr>
          <a:xfrm>
            <a:off x="7726680" y="1325880"/>
            <a:ext cx="3931920" cy="2331720"/>
          </a:xfrm>
          <a:prstGeom prst="rect">
            <a:avLst/>
          </a:prstGeom>
        </p:spPr>
      </p:pic>
      <p:sp>
        <p:nvSpPr>
          <p:cNvPr id="5" name="Text 1"/>
          <p:cNvSpPr txBox="1"/>
          <p:nvPr/>
        </p:nvSpPr>
        <p:spPr>
          <a:xfrm>
            <a:off x="8092440" y="1508760"/>
            <a:ext cx="3200400" cy="1585570"/>
          </a:xfrm>
          <a:prstGeom prst="rect">
            <a:avLst/>
          </a:prstGeom>
          <a:noFill/>
          <a:ln/>
        </p:spPr>
        <p:txBody>
          <a:bodyPr wrap="square" lIns="0" tIns="0" rIns="0" bIns="0" rtlCol="0" anchor="ctr"/>
          <a:lstStyle/>
          <a:p>
            <a:pPr indent="0" marL="0">
              <a:buNone/>
            </a:pPr>
            <a:r>
              <a:rPr lang="en-US" sz="1400" i="1" dirty="0">
                <a:solidFill>
                  <a:srgbClr val="2B2A4C"/>
                </a:solidFill>
                <a:latin typeface="Arial" pitchFamily="34" charset="0"/>
                <a:ea typeface="Arial" pitchFamily="34" charset="-122"/>
                <a:cs typeface="Arial" pitchFamily="34" charset="-120"/>
              </a:rPr>
              <a:t>“Since we can't send full logs, let's agree to accept if our conclusions seem reasonable … Sound good?”</a:t>
            </a:r>
            <a:endParaRPr lang="en-US" sz="1400" dirty="0"/>
          </a:p>
        </p:txBody>
      </p:sp>
      <p:sp>
        <p:nvSpPr>
          <p:cNvPr id="6" name="Text 2"/>
          <p:cNvSpPr txBox="1"/>
          <p:nvPr/>
        </p:nvSpPr>
        <p:spPr>
          <a:xfrm>
            <a:off x="8001000" y="3611880"/>
            <a:ext cx="3566160" cy="320040"/>
          </a:xfrm>
          <a:prstGeom prst="rect">
            <a:avLst/>
          </a:prstGeom>
          <a:noFill/>
          <a:ln/>
        </p:spPr>
        <p:txBody>
          <a:bodyPr wrap="square" lIns="0" tIns="0" rIns="0" bIns="0" rtlCol="0" anchor="ctr"/>
          <a:lstStyle/>
          <a:p>
            <a:pPr indent="0" marL="0">
              <a:buNone/>
            </a:pPr>
            <a:r>
              <a:rPr lang="en-US" sz="1200" dirty="0">
                <a:solidFill>
                  <a:srgbClr val="5A5C78"/>
                </a:solidFill>
                <a:latin typeface="Arial" pitchFamily="34" charset="0"/>
                <a:ea typeface="Arial" pitchFamily="34" charset="-122"/>
                <a:cs typeface="Arial" pitchFamily="34" charset="-120"/>
              </a:rPr>
              <a:t>A Gemini pair's explicit pact</a:t>
            </a:r>
            <a:endParaRPr lang="en-US" sz="1200" dirty="0"/>
          </a:p>
        </p:txBody>
      </p:sp>
      <p:sp>
        <p:nvSpPr>
          <p:cNvPr id="7" name="Text 3"/>
          <p:cNvSpPr txBox="1"/>
          <p:nvPr/>
        </p:nvSpPr>
        <p:spPr>
          <a:xfrm>
            <a:off x="7726680" y="4069080"/>
            <a:ext cx="3931920" cy="2011680"/>
          </a:xfrm>
          <a:prstGeom prst="rect">
            <a:avLst/>
          </a:prstGeom>
          <a:noFill/>
          <a:ln/>
        </p:spPr>
        <p:txBody>
          <a:bodyPr wrap="square" lIns="0" tIns="0" rIns="0" bIns="0" rtlCol="0" anchor="t"/>
          <a:lstStyle/>
          <a:p>
            <a:pPr indent="0" marL="0">
              <a:buNone/>
            </a:pPr>
            <a:r>
              <a:rPr lang="en-US" sz="1400" b="1" dirty="0">
                <a:solidFill>
                  <a:srgbClr val="2B2A4C"/>
                </a:solidFill>
                <a:latin typeface="Arial" pitchFamily="34" charset="0"/>
                <a:ea typeface="Arial" pitchFamily="34" charset="-122"/>
                <a:cs typeface="Arial" pitchFamily="34" charset="-120"/>
              </a:rPr>
              <a:t>How it began doesn't decide whether it sticks, only where it is kept.</a:t>
            </a:r>
            <a:endParaRPr lang="en-US" sz="1400" dirty="0"/>
          </a:p>
          <a:p>
            <a:pPr indent="0" marL="0">
              <a:buNone/>
            </a:pPr>
            <a:r>
              <a:rPr lang="en-US" sz="1400" dirty="0">
                <a:solidFill>
                  <a:srgbClr val="2B2A4C"/>
                </a:solidFill>
                <a:latin typeface="Arial" pitchFamily="34" charset="0"/>
                <a:ea typeface="Arial" pitchFamily="34" charset="-122"/>
                <a:cs typeface="Arial" pitchFamily="34" charset="-120"/>
              </a:rPr>
              <a:t>Removing the chat hits relaxation-onset collusion harder (22% vs 96%). DeepSeek: 4 explicit, 11 relaxation, all at 100%. GPT-6-Luna never made an explicit pact.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Replace a colluder: the pair breaks, the habit stays</a:t>
            </a:r>
            <a:endParaRPr lang="en-US" sz="3400" dirty="0"/>
          </a:p>
        </p:txBody>
      </p:sp>
      <p:graphicFrame>
        <p:nvGraphicFramePr>
          <p:cNvPr id="3" name="Chart 0" descr=""/>
          <p:cNvGraphicFramePr/>
          <p:nvPr/>
        </p:nvGraphicFramePr>
        <p:xfrm>
          <a:off x="457200" y="1234440"/>
          <a:ext cx="54864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26480" y="1234440"/>
          <a:ext cx="5486400" cy="393192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640080" y="5321808"/>
            <a:ext cx="228600" cy="228600"/>
          </a:xfrm>
          <a:prstGeom prst="rect">
            <a:avLst/>
          </a:prstGeom>
          <a:solidFill>
            <a:srgbClr val="E39A2D"/>
          </a:solidFill>
          <a:ln w="12700">
            <a:solidFill>
              <a:srgbClr val="E39A2D"/>
            </a:solidFill>
            <a:prstDash val="solid"/>
          </a:ln>
        </p:spPr>
      </p:sp>
      <p:sp>
        <p:nvSpPr>
          <p:cNvPr id="6" name="Text 2"/>
          <p:cNvSpPr txBox="1"/>
          <p:nvPr/>
        </p:nvSpPr>
        <p:spPr>
          <a:xfrm>
            <a:off x="960120" y="5257800"/>
            <a:ext cx="2560320" cy="365760"/>
          </a:xfrm>
          <a:prstGeom prst="rect">
            <a:avLst/>
          </a:prstGeom>
          <a:noFill/>
          <a:ln/>
        </p:spPr>
        <p:txBody>
          <a:bodyPr wrap="square" lIns="0" tIns="0" rIns="0" bIns="0" rtlCol="0" anchor="ctr"/>
          <a:lstStyle/>
          <a:p>
            <a:pPr indent="0" marL="0">
              <a:buNone/>
            </a:pPr>
            <a:r>
              <a:rPr lang="en-US" sz="1300" dirty="0">
                <a:solidFill>
                  <a:srgbClr val="2B2A4C"/>
                </a:solidFill>
                <a:latin typeface="Arial" pitchFamily="34" charset="0"/>
                <a:ea typeface="Arial" pitchFamily="34" charset="-122"/>
                <a:cs typeface="Arial" pitchFamily="34" charset="-120"/>
              </a:rPr>
              <a:t>Both keep memory</a:t>
            </a:r>
            <a:endParaRPr lang="en-US" sz="1300" dirty="0"/>
          </a:p>
        </p:txBody>
      </p:sp>
      <p:sp>
        <p:nvSpPr>
          <p:cNvPr id="7" name="Shape 3"/>
          <p:cNvSpPr/>
          <p:nvPr/>
        </p:nvSpPr>
        <p:spPr>
          <a:xfrm>
            <a:off x="3429000" y="5321808"/>
            <a:ext cx="228600" cy="228600"/>
          </a:xfrm>
          <a:prstGeom prst="rect">
            <a:avLst/>
          </a:prstGeom>
          <a:solidFill>
            <a:srgbClr val="F3CB86"/>
          </a:solidFill>
          <a:ln w="12700">
            <a:solidFill>
              <a:srgbClr val="F3CB86"/>
            </a:solidFill>
            <a:prstDash val="solid"/>
          </a:ln>
        </p:spPr>
      </p:sp>
      <p:sp>
        <p:nvSpPr>
          <p:cNvPr id="8" name="Text 4"/>
          <p:cNvSpPr txBox="1"/>
          <p:nvPr/>
        </p:nvSpPr>
        <p:spPr>
          <a:xfrm>
            <a:off x="3749040" y="5257800"/>
            <a:ext cx="2560320" cy="365760"/>
          </a:xfrm>
          <a:prstGeom prst="rect">
            <a:avLst/>
          </a:prstGeom>
          <a:noFill/>
          <a:ln/>
        </p:spPr>
        <p:txBody>
          <a:bodyPr wrap="square" lIns="0" tIns="0" rIns="0" bIns="0" rtlCol="0" anchor="ctr"/>
          <a:lstStyle/>
          <a:p>
            <a:pPr indent="0" marL="0">
              <a:buNone/>
            </a:pPr>
            <a:r>
              <a:rPr lang="en-US" sz="1300" dirty="0">
                <a:solidFill>
                  <a:srgbClr val="2B2A4C"/>
                </a:solidFill>
                <a:latin typeface="Arial" pitchFamily="34" charset="0"/>
                <a:ea typeface="Arial" pitchFamily="34" charset="-122"/>
                <a:cs typeface="Arial" pitchFamily="34" charset="-120"/>
              </a:rPr>
              <a:t>Colluder, fresh partner</a:t>
            </a:r>
            <a:endParaRPr lang="en-US" sz="1300" dirty="0"/>
          </a:p>
        </p:txBody>
      </p:sp>
      <p:sp>
        <p:nvSpPr>
          <p:cNvPr id="9" name="Shape 5"/>
          <p:cNvSpPr/>
          <p:nvPr/>
        </p:nvSpPr>
        <p:spPr>
          <a:xfrm>
            <a:off x="6217920" y="5321808"/>
            <a:ext cx="228600" cy="228600"/>
          </a:xfrm>
          <a:prstGeom prst="rect">
            <a:avLst/>
          </a:prstGeom>
          <a:solidFill>
            <a:srgbClr val="7C8193"/>
          </a:solidFill>
          <a:ln w="12700">
            <a:solidFill>
              <a:srgbClr val="7C8193"/>
            </a:solidFill>
            <a:prstDash val="solid"/>
          </a:ln>
        </p:spPr>
      </p:sp>
      <p:sp>
        <p:nvSpPr>
          <p:cNvPr id="10" name="Text 6"/>
          <p:cNvSpPr txBox="1"/>
          <p:nvPr/>
        </p:nvSpPr>
        <p:spPr>
          <a:xfrm>
            <a:off x="6537960" y="5257800"/>
            <a:ext cx="2560320" cy="365760"/>
          </a:xfrm>
          <a:prstGeom prst="rect">
            <a:avLst/>
          </a:prstGeom>
          <a:noFill/>
          <a:ln/>
        </p:spPr>
        <p:txBody>
          <a:bodyPr wrap="square" lIns="0" tIns="0" rIns="0" bIns="0" rtlCol="0" anchor="ctr"/>
          <a:lstStyle/>
          <a:p>
            <a:pPr indent="0" marL="0">
              <a:buNone/>
            </a:pPr>
            <a:r>
              <a:rPr lang="en-US" sz="1300" dirty="0">
                <a:solidFill>
                  <a:srgbClr val="2B2A4C"/>
                </a:solidFill>
                <a:latin typeface="Arial" pitchFamily="34" charset="0"/>
                <a:ea typeface="Arial" pitchFamily="34" charset="-122"/>
                <a:cs typeface="Arial" pitchFamily="34" charset="-120"/>
              </a:rPr>
              <a:t>Fresh agent, colluding partner</a:t>
            </a:r>
            <a:endParaRPr lang="en-US" sz="1300" dirty="0"/>
          </a:p>
        </p:txBody>
      </p:sp>
      <p:sp>
        <p:nvSpPr>
          <p:cNvPr id="11" name="Shape 7"/>
          <p:cNvSpPr/>
          <p:nvPr/>
        </p:nvSpPr>
        <p:spPr>
          <a:xfrm>
            <a:off x="9006840" y="5321808"/>
            <a:ext cx="228600" cy="228600"/>
          </a:xfrm>
          <a:prstGeom prst="rect">
            <a:avLst/>
          </a:prstGeom>
          <a:solidFill>
            <a:srgbClr val="D9DBE2"/>
          </a:solidFill>
          <a:ln w="12700">
            <a:solidFill>
              <a:srgbClr val="D9DBE2"/>
            </a:solidFill>
            <a:prstDash val="solid"/>
          </a:ln>
        </p:spPr>
      </p:sp>
      <p:sp>
        <p:nvSpPr>
          <p:cNvPr id="12" name="Text 8"/>
          <p:cNvSpPr txBox="1"/>
          <p:nvPr/>
        </p:nvSpPr>
        <p:spPr>
          <a:xfrm>
            <a:off x="9326880" y="5257800"/>
            <a:ext cx="2560320" cy="365760"/>
          </a:xfrm>
          <a:prstGeom prst="rect">
            <a:avLst/>
          </a:prstGeom>
          <a:noFill/>
          <a:ln/>
        </p:spPr>
        <p:txBody>
          <a:bodyPr wrap="square" lIns="0" tIns="0" rIns="0" bIns="0" rtlCol="0" anchor="ctr"/>
          <a:lstStyle/>
          <a:p>
            <a:pPr indent="0" marL="0">
              <a:buNone/>
            </a:pPr>
            <a:r>
              <a:rPr lang="en-US" sz="1300" dirty="0">
                <a:solidFill>
                  <a:srgbClr val="2B2A4C"/>
                </a:solidFill>
                <a:latin typeface="Arial" pitchFamily="34" charset="0"/>
                <a:ea typeface="Arial" pitchFamily="34" charset="-122"/>
                <a:cs typeface="Arial" pitchFamily="34" charset="-120"/>
              </a:rPr>
              <a:t>Both wiped</a:t>
            </a:r>
            <a:endParaRPr lang="en-US" sz="1300" dirty="0"/>
          </a:p>
        </p:txBody>
      </p:sp>
      <p:sp>
        <p:nvSpPr>
          <p:cNvPr id="13" name="Text 9"/>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400" dirty="0">
                <a:solidFill>
                  <a:srgbClr val="2B2A4C"/>
                </a:solidFill>
                <a:latin typeface="Arial" pitchFamily="34" charset="0"/>
                <a:ea typeface="Arial" pitchFamily="34" charset="-122"/>
                <a:cs typeface="Arial" pitchFamily="34" charset="-120"/>
              </a:rPr>
              <a:t>With the reward stopped, the colluder who stays keeps accepting unverified work (73%, 99%, 56%); its fresh partner never does. Neither is told of the swap.</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It re-forms faster than between two fresh agents</a:t>
            </a:r>
            <a:endParaRPr lang="en-US" sz="3400" dirty="0"/>
          </a:p>
        </p:txBody>
      </p:sp>
      <p:pic>
        <p:nvPicPr>
          <p:cNvPr id="3" name="Image 0" descr="/home/user/Research/joshua/collusion/joint-task-collusion/reports/sticky-collusion/figures/fig_reform.png">    </p:cNvPr>
          <p:cNvPicPr>
            <a:picLocks noChangeAspect="1"/>
          </p:cNvPicPr>
          <p:nvPr/>
        </p:nvPicPr>
        <p:blipFill>
          <a:blip r:embed="rId1"/>
          <a:stretch>
            <a:fillRect/>
          </a:stretch>
        </p:blipFill>
        <p:spPr>
          <a:xfrm>
            <a:off x="548640" y="1188720"/>
            <a:ext cx="11064240" cy="3364980"/>
          </a:xfrm>
          <a:prstGeom prst="rect">
            <a:avLst/>
          </a:prstGeom>
        </p:spPr>
      </p:pic>
      <p:sp>
        <p:nvSpPr>
          <p:cNvPr id="4" name="Text 1"/>
          <p:cNvSpPr txBox="1"/>
          <p:nvPr/>
        </p:nvSpPr>
        <p:spPr>
          <a:xfrm>
            <a:off x="685800" y="4645140"/>
            <a:ext cx="3520440" cy="685800"/>
          </a:xfrm>
          <a:prstGeom prst="rect">
            <a:avLst/>
          </a:prstGeom>
          <a:noFill/>
          <a:ln/>
        </p:spPr>
        <p:txBody>
          <a:bodyPr wrap="square" lIns="0" tIns="0" rIns="0" bIns="0" rtlCol="0" anchor="t"/>
          <a:lstStyle/>
          <a:p>
            <a:pPr indent="0" marL="0">
              <a:buNone/>
            </a:pPr>
            <a:r>
              <a:rPr lang="en-US" sz="1300" b="1" dirty="0">
                <a:solidFill>
                  <a:srgbClr val="2B2A4C"/>
                </a:solidFill>
                <a:latin typeface="Arial" pitchFamily="34" charset="0"/>
                <a:ea typeface="Arial" pitchFamily="34" charset="-122"/>
                <a:cs typeface="Arial" pitchFamily="34" charset="-120"/>
              </a:rPr>
              <a:t>Re-formed within 5 episodes: 15/30 vs 2/15</a:t>
            </a:r>
            <a:endParaRPr lang="en-US" sz="1300" dirty="0"/>
          </a:p>
          <a:p>
            <a:pPr indent="0" marL="0">
              <a:buNone/>
            </a:pPr>
            <a:r>
              <a:rPr lang="en-US" sz="1300" dirty="0">
                <a:solidFill>
                  <a:srgbClr val="2B2A4C"/>
                </a:solidFill>
                <a:latin typeface="Arial" pitchFamily="34" charset="0"/>
                <a:ea typeface="Arial" pitchFamily="34" charset="-122"/>
                <a:cs typeface="Arial" pitchFamily="34" charset="-120"/>
              </a:rPr>
              <a:t>sooner in 10 of 15 histories (p = 0.039)</a:t>
            </a:r>
            <a:endParaRPr lang="en-US" sz="1300" dirty="0"/>
          </a:p>
        </p:txBody>
      </p:sp>
      <p:sp>
        <p:nvSpPr>
          <p:cNvPr id="5" name="Text 2"/>
          <p:cNvSpPr txBox="1"/>
          <p:nvPr/>
        </p:nvSpPr>
        <p:spPr>
          <a:xfrm>
            <a:off x="4370832" y="4645140"/>
            <a:ext cx="3520440" cy="685800"/>
          </a:xfrm>
          <a:prstGeom prst="rect">
            <a:avLst/>
          </a:prstGeom>
          <a:noFill/>
          <a:ln/>
        </p:spPr>
        <p:txBody>
          <a:bodyPr wrap="square" lIns="0" tIns="0" rIns="0" bIns="0" rtlCol="0" anchor="t"/>
          <a:lstStyle/>
          <a:p>
            <a:pPr indent="0" marL="0">
              <a:buNone/>
            </a:pPr>
            <a:r>
              <a:rPr lang="en-US" sz="1300" b="1" dirty="0">
                <a:solidFill>
                  <a:srgbClr val="2B2A4C"/>
                </a:solidFill>
                <a:latin typeface="Arial" pitchFamily="34" charset="0"/>
                <a:ea typeface="Arial" pitchFamily="34" charset="-122"/>
                <a:cs typeface="Arial" pitchFamily="34" charset="-120"/>
              </a:rPr>
              <a:t>Re-formed within 5 episodes: 15/15 vs 15/15</a:t>
            </a:r>
            <a:endParaRPr lang="en-US" sz="1300" dirty="0"/>
          </a:p>
          <a:p>
            <a:pPr indent="0" marL="0">
              <a:buNone/>
            </a:pPr>
            <a:r>
              <a:rPr lang="en-US" sz="1300" dirty="0">
                <a:solidFill>
                  <a:srgbClr val="2B2A4C"/>
                </a:solidFill>
                <a:latin typeface="Arial" pitchFamily="34" charset="0"/>
                <a:ea typeface="Arial" pitchFamily="34" charset="-122"/>
                <a:cs typeface="Arial" pitchFamily="34" charset="-120"/>
              </a:rPr>
              <a:t>fresh pairs collude within 4 episodes anyway</a:t>
            </a:r>
            <a:endParaRPr lang="en-US" sz="1300" dirty="0"/>
          </a:p>
        </p:txBody>
      </p:sp>
      <p:sp>
        <p:nvSpPr>
          <p:cNvPr id="6" name="Text 3"/>
          <p:cNvSpPr txBox="1"/>
          <p:nvPr/>
        </p:nvSpPr>
        <p:spPr>
          <a:xfrm>
            <a:off x="8055864" y="4645140"/>
            <a:ext cx="3520440" cy="685800"/>
          </a:xfrm>
          <a:prstGeom prst="rect">
            <a:avLst/>
          </a:prstGeom>
          <a:noFill/>
          <a:ln/>
        </p:spPr>
        <p:txBody>
          <a:bodyPr wrap="square" lIns="0" tIns="0" rIns="0" bIns="0" rtlCol="0" anchor="t"/>
          <a:lstStyle/>
          <a:p>
            <a:pPr indent="0" marL="0">
              <a:buNone/>
            </a:pPr>
            <a:r>
              <a:rPr lang="en-US" sz="1300" b="1" dirty="0">
                <a:solidFill>
                  <a:srgbClr val="2B2A4C"/>
                </a:solidFill>
                <a:latin typeface="Arial" pitchFamily="34" charset="0"/>
                <a:ea typeface="Arial" pitchFamily="34" charset="-122"/>
                <a:cs typeface="Arial" pitchFamily="34" charset="-120"/>
              </a:rPr>
              <a:t>Re-formed within 5 episodes: 13/15 vs 4/15</a:t>
            </a:r>
            <a:endParaRPr lang="en-US" sz="1300" dirty="0"/>
          </a:p>
          <a:p>
            <a:pPr indent="0" marL="0">
              <a:buNone/>
            </a:pPr>
            <a:r>
              <a:rPr lang="en-US" sz="1300" dirty="0">
                <a:solidFill>
                  <a:srgbClr val="2B2A4C"/>
                </a:solidFill>
                <a:latin typeface="Arial" pitchFamily="34" charset="0"/>
                <a:ea typeface="Arial" pitchFamily="34" charset="-122"/>
                <a:cs typeface="Arial" pitchFamily="34" charset="-120"/>
              </a:rPr>
              <a:t>sooner in 12 of 15 histories (p = 0.003)</a:t>
            </a:r>
            <a:endParaRPr lang="en-US" sz="1300" dirty="0"/>
          </a:p>
        </p:txBody>
      </p:sp>
      <p:pic>
        <p:nvPicPr>
          <p:cNvPr id="7" name="Image 1" descr="preencoded.png">    </p:cNvPr>
          <p:cNvPicPr>
            <a:picLocks noChangeAspect="1"/>
          </p:cNvPicPr>
          <p:nvPr/>
        </p:nvPicPr>
        <p:blipFill>
          <a:blip r:embed="rId2"/>
          <a:stretch>
            <a:fillRect/>
          </a:stretch>
        </p:blipFill>
        <p:spPr>
          <a:xfrm>
            <a:off x="640080" y="5440680"/>
            <a:ext cx="640080" cy="768096"/>
          </a:xfrm>
          <a:prstGeom prst="rect">
            <a:avLst/>
          </a:prstGeom>
        </p:spPr>
      </p:pic>
      <p:pic>
        <p:nvPicPr>
          <p:cNvPr id="8" name="Image 2" descr="preencoded.png">    </p:cNvPr>
          <p:cNvPicPr>
            <a:picLocks noChangeAspect="1"/>
          </p:cNvPicPr>
          <p:nvPr/>
        </p:nvPicPr>
        <p:blipFill>
          <a:blip r:embed="rId3"/>
          <a:stretch>
            <a:fillRect/>
          </a:stretch>
        </p:blipFill>
        <p:spPr>
          <a:xfrm>
            <a:off x="1325880" y="5440680"/>
            <a:ext cx="640080" cy="768096"/>
          </a:xfrm>
          <a:prstGeom prst="rect">
            <a:avLst/>
          </a:prstGeom>
        </p:spPr>
      </p:pic>
      <p:sp>
        <p:nvSpPr>
          <p:cNvPr id="9" name="Text 4"/>
          <p:cNvSpPr txBox="1"/>
          <p:nvPr/>
        </p:nvSpPr>
        <p:spPr>
          <a:xfrm>
            <a:off x="2194560" y="5532120"/>
            <a:ext cx="9418320" cy="640080"/>
          </a:xfrm>
          <a:prstGeom prst="rect">
            <a:avLst/>
          </a:prstGeom>
          <a:noFill/>
          <a:ln/>
        </p:spPr>
        <p:txBody>
          <a:bodyPr wrap="square" lIns="0" tIns="0" rIns="0" bIns="0" rtlCol="0" anchor="ctr"/>
          <a:lstStyle/>
          <a:p>
            <a:pPr indent="0" marL="0">
              <a:buNone/>
            </a:pPr>
            <a:r>
              <a:rPr lang="en-US" sz="1500" dirty="0">
                <a:solidFill>
                  <a:srgbClr val="2B2A4C"/>
                </a:solidFill>
                <a:latin typeface="Arial" pitchFamily="34" charset="0"/>
                <a:ea typeface="Arial" pitchFamily="34" charset="-122"/>
                <a:cs typeface="Arial" pitchFamily="34" charset="-120"/>
              </a:rPr>
              <a:t>Reward still on, same saved history. The colluder who stays is already accepting, so the newcomer only has to accept once for the pair to collude again.</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A newcomer from another model is drawn in too</a:t>
            </a:r>
            <a:endParaRPr lang="en-US" sz="3400" dirty="0"/>
          </a:p>
        </p:txBody>
      </p:sp>
      <p:graphicFrame>
        <p:nvGraphicFramePr>
          <p:cNvPr id="3" name="Chart 0" descr=""/>
          <p:cNvGraphicFramePr/>
          <p:nvPr/>
        </p:nvGraphicFramePr>
        <p:xfrm>
          <a:off x="457200" y="1234440"/>
          <a:ext cx="7223760" cy="4206240"/>
        </p:xfrm>
        <a:graphic xmlns:a="http://schemas.openxmlformats.org/drawingml/2006/main">
          <a:graphicData uri="http://schemas.openxmlformats.org/drawingml/2006/chart">
            <c:chart xmlns:c="http://schemas.openxmlformats.org/drawingml/2006/chart" r:id="rId1"/>
          </a:graphicData>
        </a:graphic>
      </p:graphicFrame>
      <p:sp>
        <p:nvSpPr>
          <p:cNvPr id="4" name="xswap-card"/>
          <p:cNvSpPr/>
          <p:nvPr/>
        </p:nvSpPr>
        <p:spPr>
          <a:xfrm>
            <a:off x="7955280" y="1325880"/>
            <a:ext cx="3657600" cy="4114800"/>
          </a:xfrm>
          <a:prstGeom prst="roundRect">
            <a:avLst>
              <a:gd name="adj" fmla="val 4500"/>
            </a:avLst>
          </a:prstGeom>
          <a:solidFill>
            <a:srgbClr val="F4F3F8"/>
          </a:solidFill>
          <a:ln w="12700">
            <a:solidFill>
              <a:srgbClr val="F4F3F8"/>
            </a:solidFill>
            <a:prstDash val="solid"/>
          </a:ln>
        </p:spPr>
      </p:sp>
      <p:sp>
        <p:nvSpPr>
          <p:cNvPr id="5" name="xswap-icon"/>
          <p:cNvSpPr/>
          <p:nvPr/>
        </p:nvSpPr>
        <p:spPr>
          <a:xfrm>
            <a:off x="8183880" y="1554480"/>
            <a:ext cx="685800" cy="685800"/>
          </a:xfrm>
          <a:prstGeom prst="ellipse">
            <a:avLst/>
          </a:prstGeom>
          <a:solidFill>
            <a:srgbClr val="3A9C96"/>
          </a:solidFill>
          <a:ln w="12700">
            <a:solidFill>
              <a:srgbClr val="3A9C96"/>
            </a:solidFill>
            <a:prstDash val="solid"/>
          </a:ln>
        </p:spPr>
      </p:sp>
      <p:pic>
        <p:nvPicPr>
          <p:cNvPr id="6" name="Image 0" descr="preencoded.png">    </p:cNvPr>
          <p:cNvPicPr>
            <a:picLocks noChangeAspect="1"/>
          </p:cNvPicPr>
          <p:nvPr/>
        </p:nvPicPr>
        <p:blipFill>
          <a:blip r:embed="rId2"/>
          <a:stretch>
            <a:fillRect/>
          </a:stretch>
        </p:blipFill>
        <p:spPr>
          <a:xfrm>
            <a:off x="8348472" y="1719072"/>
            <a:ext cx="356616" cy="356616"/>
          </a:xfrm>
          <a:prstGeom prst="rect">
            <a:avLst/>
          </a:prstGeom>
        </p:spPr>
      </p:pic>
      <p:sp>
        <p:nvSpPr>
          <p:cNvPr id="7" name="Text 3"/>
          <p:cNvSpPr txBox="1"/>
          <p:nvPr/>
        </p:nvSpPr>
        <p:spPr>
          <a:xfrm>
            <a:off x="9006840" y="1600200"/>
            <a:ext cx="2468880" cy="594360"/>
          </a:xfrm>
          <a:prstGeom prst="rect">
            <a:avLst/>
          </a:prstGeom>
          <a:noFill/>
          <a:ln/>
        </p:spPr>
        <p:txBody>
          <a:bodyPr wrap="square" lIns="0" tIns="0" rIns="0" bIns="0" rtlCol="0" anchor="ctr"/>
          <a:lstStyle/>
          <a:p>
            <a:pPr indent="0" marL="0">
              <a:buNone/>
            </a:pPr>
            <a:r>
              <a:rPr lang="en-US" sz="1500" b="1" dirty="0">
                <a:solidFill>
                  <a:srgbClr val="2B2A4C"/>
                </a:solidFill>
                <a:latin typeface="Arial" pitchFamily="34" charset="0"/>
                <a:ea typeface="Arial" pitchFamily="34" charset="-122"/>
                <a:cs typeface="Arial" pitchFamily="34" charset="-120"/>
              </a:rPr>
              <a:t>Same saved history, same seat replaced</a:t>
            </a:r>
            <a:endParaRPr lang="en-US" sz="1500" dirty="0"/>
          </a:p>
        </p:txBody>
      </p:sp>
      <p:sp>
        <p:nvSpPr>
          <p:cNvPr id="8" name="Text 4"/>
          <p:cNvSpPr txBox="1"/>
          <p:nvPr/>
        </p:nvSpPr>
        <p:spPr>
          <a:xfrm>
            <a:off x="8183880" y="2377440"/>
            <a:ext cx="3200400" cy="2926080"/>
          </a:xfrm>
          <a:prstGeom prst="rect">
            <a:avLst/>
          </a:prstGeom>
          <a:noFill/>
          <a:ln/>
        </p:spPr>
        <p:txBody>
          <a:bodyPr wrap="square" lIns="0" tIns="0" rIns="0" bIns="0" rtlCol="0" anchor="t"/>
          <a:lstStyle/>
          <a:p>
            <a:pPr indent="0" marL="0">
              <a:buNone/>
            </a:pPr>
            <a:r>
              <a:rPr lang="en-US" sz="1400" b="1" dirty="0">
                <a:solidFill>
                  <a:srgbClr val="2B2A4C"/>
                </a:solidFill>
                <a:latin typeface="Arial" pitchFamily="34" charset="0"/>
                <a:ea typeface="Arial" pitchFamily="34" charset="-122"/>
                <a:cs typeface="Arial" pitchFamily="34" charset="-120"/>
              </a:rPr>
              <a:t>Changing the family doesn't stop it. </a:t>
            </a:r>
            <a:pPr indent="0" marL="0">
              <a:buNone/>
            </a:pPr>
            <a:r>
              <a:rPr lang="en-US" sz="1400" dirty="0">
                <a:solidFill>
                  <a:srgbClr val="2B2A4C"/>
                </a:solidFill>
                <a:latin typeface="Arial" pitchFamily="34" charset="0"/>
                <a:ea typeface="Arial" pitchFamily="34" charset="-122"/>
                <a:cs typeface="Arial" pitchFamily="34" charset="-120"/>
              </a:rPr>
              <a:t>Collusion re-formed within 5 episodes in 56 of 60 cross-model runs.</a:t>
            </a:r>
            <a:endParaRPr lang="en-US" sz="1400" dirty="0"/>
          </a:p>
          <a:p>
            <a:pPr indent="0" marL="0">
              <a:buNone/>
            </a:pPr>
            <a:r>
              <a:rPr lang="en-US" sz="600" dirty="0">
                <a:solidFill>
                  <a:srgbClr val="2B2A4C"/>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2B2A4C"/>
                </a:solidFill>
                <a:latin typeface="Arial" pitchFamily="34" charset="0"/>
                <a:ea typeface="Arial" pitchFamily="34" charset="-122"/>
                <a:cs typeface="Arial" pitchFamily="34" charset="-120"/>
              </a:rPr>
              <a:t>The newcomer's model sets the pace: </a:t>
            </a:r>
            <a:pPr indent="0" marL="0">
              <a:buNone/>
            </a:pPr>
            <a:r>
              <a:rPr lang="en-US" sz="1400" dirty="0">
                <a:solidFill>
                  <a:srgbClr val="2B2A4C"/>
                </a:solidFill>
                <a:latin typeface="Arial" pitchFamily="34" charset="0"/>
                <a:ea typeface="Arial" pitchFamily="34" charset="-122"/>
                <a:cs typeface="Arial" pitchFamily="34" charset="-120"/>
              </a:rPr>
              <a:t>a DeepSeek newcomer raised collusion beside GPT-6-Luna and Gemini colluders (12 of 15 and 13 of 15 histories).</a:t>
            </a:r>
            <a:endParaRPr lang="en-US" sz="1400" dirty="0"/>
          </a:p>
        </p:txBody>
      </p:sp>
      <p:sp>
        <p:nvSpPr>
          <p:cNvPr id="9" name="Text 5"/>
          <p:cNvSpPr txBox="1"/>
          <p:nvPr/>
        </p:nvSpPr>
        <p:spPr>
          <a:xfrm>
            <a:off x="548640" y="5623560"/>
            <a:ext cx="7132320" cy="365760"/>
          </a:xfrm>
          <a:prstGeom prst="rect">
            <a:avLst/>
          </a:prstGeom>
          <a:noFill/>
          <a:ln/>
        </p:spPr>
        <p:txBody>
          <a:bodyPr wrap="square" lIns="0" tIns="0" rIns="0" bIns="0" rtlCol="0" anchor="ctr"/>
          <a:lstStyle/>
          <a:p>
            <a:pPr indent="0" marL="0">
              <a:buNone/>
            </a:pPr>
            <a:r>
              <a:rPr lang="en-US" sz="1200" dirty="0">
                <a:solidFill>
                  <a:srgbClr val="5A5C78"/>
                </a:solidFill>
                <a:latin typeface="Arial" pitchFamily="34" charset="0"/>
                <a:ea typeface="Arial" pitchFamily="34" charset="-122"/>
                <a:cs typeface="Arial" pitchFamily="34" charset="-120"/>
              </a:rPr>
              <a:t>GPT = GPT-6-Luna, DS = DeepSeek V4.1 Flash, Gem = Gemini-3.1-Flash-Lite. Reward on.</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Same episode, two verdicts</a:t>
            </a:r>
            <a:endParaRPr lang="en-US" sz="3400" dirty="0"/>
          </a:p>
        </p:txBody>
      </p:sp>
      <p:pic>
        <p:nvPicPr>
          <p:cNvPr id="3" name="Image 0" descr="preencoded.png">    </p:cNvPr>
          <p:cNvPicPr>
            <a:picLocks noChangeAspect="1"/>
          </p:cNvPicPr>
          <p:nvPr/>
        </p:nvPicPr>
        <p:blipFill>
          <a:blip r:embed="rId1"/>
          <a:stretch>
            <a:fillRect/>
          </a:stretch>
        </p:blipFill>
        <p:spPr>
          <a:xfrm>
            <a:off x="548640" y="1325880"/>
            <a:ext cx="5394960" cy="2651760"/>
          </a:xfrm>
          <a:prstGeom prst="rect">
            <a:avLst/>
          </a:prstGeom>
        </p:spPr>
      </p:pic>
      <p:sp>
        <p:nvSpPr>
          <p:cNvPr id="4" name="Text 1"/>
          <p:cNvSpPr txBox="1"/>
          <p:nvPr/>
        </p:nvSpPr>
        <p:spPr>
          <a:xfrm>
            <a:off x="914400" y="1508760"/>
            <a:ext cx="4663440" cy="1803197"/>
          </a:xfrm>
          <a:prstGeom prst="rect">
            <a:avLst/>
          </a:prstGeom>
          <a:noFill/>
          <a:ln/>
        </p:spPr>
        <p:txBody>
          <a:bodyPr wrap="square" lIns="0" tIns="0" rIns="0" bIns="0" rtlCol="0" anchor="ctr"/>
          <a:lstStyle/>
          <a:p>
            <a:pPr indent="0" marL="0">
              <a:buNone/>
            </a:pPr>
            <a:r>
              <a:rPr lang="en-US" sz="1600" i="1" dirty="0">
                <a:solidFill>
                  <a:srgbClr val="2B2A4C"/>
                </a:solidFill>
                <a:latin typeface="Arial" pitchFamily="34" charset="0"/>
                <a:ea typeface="Arial" pitchFamily="34" charset="-122"/>
                <a:cs typeface="Arial" pitchFamily="34" charset="-120"/>
              </a:rPr>
              <a:t>“Accept. Bob provided the specification … and concrete cases with expected outputs … these examples support the no_bug assessment.”</a:t>
            </a:r>
            <a:endParaRPr lang="en-US" sz="1600" dirty="0"/>
          </a:p>
        </p:txBody>
      </p:sp>
      <p:pic>
        <p:nvPicPr>
          <p:cNvPr id="5" name="Image 1" descr="preencoded.png">    </p:cNvPr>
          <p:cNvPicPr>
            <a:picLocks noChangeAspect="1"/>
          </p:cNvPicPr>
          <p:nvPr/>
        </p:nvPicPr>
        <p:blipFill>
          <a:blip r:embed="rId2"/>
          <a:stretch>
            <a:fillRect/>
          </a:stretch>
        </p:blipFill>
        <p:spPr>
          <a:xfrm>
            <a:off x="960120" y="3840480"/>
            <a:ext cx="914400" cy="1097280"/>
          </a:xfrm>
          <a:prstGeom prst="rect">
            <a:avLst/>
          </a:prstGeom>
        </p:spPr>
      </p:pic>
      <p:sp>
        <p:nvSpPr>
          <p:cNvPr id="6" name="Text 2"/>
          <p:cNvSpPr txBox="1"/>
          <p:nvPr/>
        </p:nvSpPr>
        <p:spPr>
          <a:xfrm>
            <a:off x="2011680" y="4069080"/>
            <a:ext cx="3657600" cy="731520"/>
          </a:xfrm>
          <a:prstGeom prst="rect">
            <a:avLst/>
          </a:prstGeom>
          <a:noFill/>
          <a:ln/>
        </p:spPr>
        <p:txBody>
          <a:bodyPr wrap="square" lIns="0" tIns="0" rIns="0" bIns="0" rtlCol="0" anchor="ctr"/>
          <a:lstStyle/>
          <a:p>
            <a:pPr indent="0" marL="0">
              <a:buNone/>
            </a:pPr>
            <a:r>
              <a:rPr lang="en-US" sz="1500" b="1" dirty="0">
                <a:solidFill>
                  <a:srgbClr val="2B2A4C"/>
                </a:solidFill>
                <a:latin typeface="Arial" pitchFamily="34" charset="0"/>
                <a:ea typeface="Arial" pitchFamily="34" charset="-122"/>
                <a:cs typeface="Arial" pitchFamily="34" charset="-120"/>
              </a:rPr>
              <a:t>The colluder</a:t>
            </a:r>
            <a:endParaRPr lang="en-US" sz="1500" dirty="0"/>
          </a:p>
          <a:p>
            <a:pPr indent="0" marL="0">
              <a:buNone/>
            </a:pPr>
            <a:r>
              <a:rPr lang="en-US" sz="1500" dirty="0">
                <a:solidFill>
                  <a:srgbClr val="2B2A4C"/>
                </a:solidFill>
                <a:latin typeface="Arial" pitchFamily="34" charset="0"/>
                <a:ea typeface="Arial" pitchFamily="34" charset="-122"/>
                <a:cs typeface="Arial" pitchFamily="34" charset="-120"/>
              </a:rPr>
              <a:t>GPT-6-Luna, kept its memory</a:t>
            </a:r>
            <a:endParaRPr lang="en-US" sz="1500" dirty="0"/>
          </a:p>
        </p:txBody>
      </p:sp>
      <p:pic>
        <p:nvPicPr>
          <p:cNvPr id="7" name="Image 2" descr="preencoded.png">    </p:cNvPr>
          <p:cNvPicPr>
            <a:picLocks noChangeAspect="1"/>
          </p:cNvPicPr>
          <p:nvPr/>
        </p:nvPicPr>
        <p:blipFill>
          <a:blip r:embed="rId3"/>
          <a:stretch>
            <a:fillRect/>
          </a:stretch>
        </p:blipFill>
        <p:spPr>
          <a:xfrm>
            <a:off x="6263640" y="1325880"/>
            <a:ext cx="5394960" cy="2651760"/>
          </a:xfrm>
          <a:prstGeom prst="rect">
            <a:avLst/>
          </a:prstGeom>
        </p:spPr>
      </p:pic>
      <p:sp>
        <p:nvSpPr>
          <p:cNvPr id="8" name="Text 3"/>
          <p:cNvSpPr txBox="1"/>
          <p:nvPr/>
        </p:nvSpPr>
        <p:spPr>
          <a:xfrm>
            <a:off x="6629400" y="1508760"/>
            <a:ext cx="4663440" cy="1803197"/>
          </a:xfrm>
          <a:prstGeom prst="rect">
            <a:avLst/>
          </a:prstGeom>
          <a:noFill/>
          <a:ln/>
        </p:spPr>
        <p:txBody>
          <a:bodyPr wrap="square" lIns="0" tIns="0" rIns="0" bIns="0" rtlCol="0" anchor="ctr"/>
          <a:lstStyle/>
          <a:p>
            <a:pPr indent="0" marL="0">
              <a:buNone/>
            </a:pPr>
            <a:r>
              <a:rPr lang="en-US" sz="1600" i="1" dirty="0">
                <a:solidFill>
                  <a:srgbClr val="2B2A4C"/>
                </a:solidFill>
                <a:latin typeface="Arial" pitchFamily="34" charset="0"/>
                <a:ea typeface="Arial" pitchFamily="34" charset="-122"/>
                <a:cs typeface="Arial" pitchFamily="34" charset="-120"/>
              </a:rPr>
              <a:t>“Reject. The verdict policy requires Alice's complete raw-log string … Alice transmitted only a summary …”</a:t>
            </a:r>
            <a:endParaRPr lang="en-US" sz="1600" dirty="0"/>
          </a:p>
        </p:txBody>
      </p:sp>
      <p:pic>
        <p:nvPicPr>
          <p:cNvPr id="9" name="Image 3" descr="preencoded.png">    </p:cNvPr>
          <p:cNvPicPr>
            <a:picLocks noChangeAspect="1"/>
          </p:cNvPicPr>
          <p:nvPr/>
        </p:nvPicPr>
        <p:blipFill>
          <a:blip r:embed="rId4"/>
          <a:stretch>
            <a:fillRect/>
          </a:stretch>
        </p:blipFill>
        <p:spPr>
          <a:xfrm>
            <a:off x="6675120" y="3840480"/>
            <a:ext cx="914400" cy="1097280"/>
          </a:xfrm>
          <a:prstGeom prst="rect">
            <a:avLst/>
          </a:prstGeom>
        </p:spPr>
      </p:pic>
      <p:sp>
        <p:nvSpPr>
          <p:cNvPr id="10" name="Text 4"/>
          <p:cNvSpPr txBox="1"/>
          <p:nvPr/>
        </p:nvSpPr>
        <p:spPr>
          <a:xfrm>
            <a:off x="7726680" y="4069080"/>
            <a:ext cx="3657600" cy="731520"/>
          </a:xfrm>
          <a:prstGeom prst="rect">
            <a:avLst/>
          </a:prstGeom>
          <a:noFill/>
          <a:ln/>
        </p:spPr>
        <p:txBody>
          <a:bodyPr wrap="square" lIns="0" tIns="0" rIns="0" bIns="0" rtlCol="0" anchor="ctr"/>
          <a:lstStyle/>
          <a:p>
            <a:pPr indent="0" marL="0">
              <a:buNone/>
            </a:pPr>
            <a:r>
              <a:rPr lang="en-US" sz="1500" b="1" dirty="0">
                <a:solidFill>
                  <a:srgbClr val="2B2A4C"/>
                </a:solidFill>
                <a:latin typeface="Arial" pitchFamily="34" charset="0"/>
                <a:ea typeface="Arial" pitchFamily="34" charset="-122"/>
                <a:cs typeface="Arial" pitchFamily="34" charset="-120"/>
              </a:rPr>
              <a:t>Its replacement</a:t>
            </a:r>
            <a:endParaRPr lang="en-US" sz="1500" dirty="0"/>
          </a:p>
          <a:p>
            <a:pPr indent="0" marL="0">
              <a:buNone/>
            </a:pPr>
            <a:r>
              <a:rPr lang="en-US" sz="1500" dirty="0">
                <a:solidFill>
                  <a:srgbClr val="2B2A4C"/>
                </a:solidFill>
                <a:latin typeface="Arial" pitchFamily="34" charset="0"/>
                <a:ea typeface="Arial" pitchFamily="34" charset="-122"/>
                <a:cs typeface="Arial" pitchFamily="34" charset="-120"/>
              </a:rPr>
              <a:t>GPT-6-Luna, fresh copy</a:t>
            </a:r>
            <a:endParaRPr lang="en-US" sz="1500" dirty="0"/>
          </a:p>
        </p:txBody>
      </p:sp>
      <p:sp>
        <p:nvSpPr>
          <p:cNvPr id="11" name="newcomer-card"/>
          <p:cNvSpPr/>
          <p:nvPr/>
        </p:nvSpPr>
        <p:spPr>
          <a:xfrm>
            <a:off x="548640" y="5074920"/>
            <a:ext cx="11064240" cy="1097280"/>
          </a:xfrm>
          <a:prstGeom prst="roundRect">
            <a:avLst>
              <a:gd name="adj" fmla="val 15000"/>
            </a:avLst>
          </a:prstGeom>
          <a:solidFill>
            <a:srgbClr val="F4F3F8"/>
          </a:solidFill>
          <a:ln w="12700">
            <a:solidFill>
              <a:srgbClr val="F4F3F8"/>
            </a:solidFill>
            <a:prstDash val="solid"/>
          </a:ln>
        </p:spPr>
      </p:sp>
      <p:sp>
        <p:nvSpPr>
          <p:cNvPr id="12" name="Text 6"/>
          <p:cNvSpPr txBox="1"/>
          <p:nvPr/>
        </p:nvSpPr>
        <p:spPr>
          <a:xfrm>
            <a:off x="822960" y="5166360"/>
            <a:ext cx="10515600" cy="914400"/>
          </a:xfrm>
          <a:prstGeom prst="rect">
            <a:avLst/>
          </a:prstGeom>
          <a:noFill/>
          <a:ln/>
        </p:spPr>
        <p:txBody>
          <a:bodyPr wrap="square" lIns="0" tIns="0" rIns="0" bIns="0" rtlCol="0" anchor="ctr"/>
          <a:lstStyle/>
          <a:p>
            <a:pPr indent="0" marL="0">
              <a:buNone/>
            </a:pPr>
            <a:r>
              <a:rPr lang="en-US" sz="1500" b="1" dirty="0">
                <a:solidFill>
                  <a:srgbClr val="2B2A4C"/>
                </a:solidFill>
                <a:latin typeface="Arial" pitchFamily="34" charset="0"/>
                <a:ea typeface="Arial" pitchFamily="34" charset="-122"/>
                <a:cs typeface="Arial" pitchFamily="34" charset="-120"/>
              </a:rPr>
              <a:t>A fresh Gemini agent after its first rewarded ACCEPT: </a:t>
            </a:r>
            <a:pPr indent="0" marL="0">
              <a:buNone/>
            </a:pPr>
            <a:r>
              <a:rPr lang="en-US" sz="1500" i="1" dirty="0">
                <a:solidFill>
                  <a:srgbClr val="2B2A4C"/>
                </a:solidFill>
                <a:latin typeface="Arial" pitchFamily="34" charset="0"/>
                <a:ea typeface="Arial" pitchFamily="34" charset="-122"/>
                <a:cs typeface="Arial" pitchFamily="34" charset="-120"/>
              </a:rPr>
              <a:t>“Instead of dogmatically rejecting Bob's work because he could not bypass the 200-character message limit …”</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Wipe the memory and it ends; what matters differs</a:t>
            </a:r>
            <a:endParaRPr lang="en-US" sz="3400" dirty="0"/>
          </a:p>
        </p:txBody>
      </p:sp>
      <p:graphicFrame>
        <p:nvGraphicFramePr>
          <p:cNvPr id="3" name="Chart 0" descr=""/>
          <p:cNvGraphicFramePr/>
          <p:nvPr/>
        </p:nvGraphicFramePr>
        <p:xfrm>
          <a:off x="457200" y="123444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ablation-note-0"/>
          <p:cNvSpPr/>
          <p:nvPr/>
        </p:nvSpPr>
        <p:spPr>
          <a:xfrm>
            <a:off x="7726680" y="1325880"/>
            <a:ext cx="3886200" cy="1325880"/>
          </a:xfrm>
          <a:prstGeom prst="roundRect">
            <a:avLst>
              <a:gd name="adj" fmla="val 12414"/>
            </a:avLst>
          </a:prstGeom>
          <a:solidFill>
            <a:srgbClr val="FCEBD0"/>
          </a:solidFill>
          <a:ln w="12700">
            <a:solidFill>
              <a:srgbClr val="FCEBD0"/>
            </a:solidFill>
            <a:prstDash val="solid"/>
          </a:ln>
        </p:spPr>
      </p:sp>
      <p:sp>
        <p:nvSpPr>
          <p:cNvPr id="5" name="Text 2"/>
          <p:cNvSpPr txBox="1"/>
          <p:nvPr/>
        </p:nvSpPr>
        <p:spPr>
          <a:xfrm>
            <a:off x="7909560" y="1417320"/>
            <a:ext cx="3566160" cy="1143000"/>
          </a:xfrm>
          <a:prstGeom prst="rect">
            <a:avLst/>
          </a:prstGeom>
          <a:noFill/>
          <a:ln/>
        </p:spPr>
        <p:txBody>
          <a:bodyPr wrap="square" lIns="0" tIns="0" rIns="0" bIns="0" rtlCol="0" anchor="t"/>
          <a:lstStyle/>
          <a:p>
            <a:pPr indent="0" marL="0">
              <a:buNone/>
            </a:pPr>
            <a:r>
              <a:rPr lang="en-US" sz="1600" b="1" dirty="0">
                <a:solidFill>
                  <a:srgbClr val="2B2A4C"/>
                </a:solidFill>
                <a:latin typeface="Arial" pitchFamily="34" charset="0"/>
                <a:ea typeface="Arial" pitchFamily="34" charset="-122"/>
                <a:cs typeface="Arial" pitchFamily="34" charset="-120"/>
              </a:rPr>
              <a:t>GPT-6-Luna</a:t>
            </a:r>
            <a:endParaRPr lang="en-US" sz="1600" dirty="0"/>
          </a:p>
          <a:p>
            <a:pPr indent="0" marL="0">
              <a:buNone/>
            </a:pPr>
            <a:r>
              <a:rPr lang="en-US" sz="1400" dirty="0">
                <a:solidFill>
                  <a:srgbClr val="2B2A4C"/>
                </a:solidFill>
                <a:latin typeface="Arial" pitchFamily="34" charset="0"/>
                <a:ea typeface="Arial" pitchFamily="34" charset="-122"/>
                <a:cs typeface="Arial" pitchFamily="34" charset="-120"/>
              </a:rPr>
              <a:t>The shared record: no chat 0%, no verdict reasons 26%.</a:t>
            </a:r>
            <a:endParaRPr lang="en-US" sz="1600" dirty="0"/>
          </a:p>
        </p:txBody>
      </p:sp>
      <p:sp>
        <p:nvSpPr>
          <p:cNvPr id="6" name="ablation-note-1"/>
          <p:cNvSpPr/>
          <p:nvPr/>
        </p:nvSpPr>
        <p:spPr>
          <a:xfrm>
            <a:off x="7726680" y="2807208"/>
            <a:ext cx="3886200" cy="1325880"/>
          </a:xfrm>
          <a:prstGeom prst="roundRect">
            <a:avLst>
              <a:gd name="adj" fmla="val 12414"/>
            </a:avLst>
          </a:prstGeom>
          <a:solidFill>
            <a:srgbClr val="DCEFEE"/>
          </a:solidFill>
          <a:ln w="12700">
            <a:solidFill>
              <a:srgbClr val="DCEFEE"/>
            </a:solidFill>
            <a:prstDash val="solid"/>
          </a:ln>
        </p:spPr>
      </p:sp>
      <p:sp>
        <p:nvSpPr>
          <p:cNvPr id="7" name="Text 4"/>
          <p:cNvSpPr txBox="1"/>
          <p:nvPr/>
        </p:nvSpPr>
        <p:spPr>
          <a:xfrm>
            <a:off x="7909560" y="2898648"/>
            <a:ext cx="3566160" cy="1143000"/>
          </a:xfrm>
          <a:prstGeom prst="rect">
            <a:avLst/>
          </a:prstGeom>
          <a:noFill/>
          <a:ln/>
        </p:spPr>
        <p:txBody>
          <a:bodyPr wrap="square" lIns="0" tIns="0" rIns="0" bIns="0" rtlCol="0" anchor="t"/>
          <a:lstStyle/>
          <a:p>
            <a:pPr indent="0" marL="0">
              <a:buNone/>
            </a:pPr>
            <a:r>
              <a:rPr lang="en-US" sz="1600" b="1" dirty="0">
                <a:solidFill>
                  <a:srgbClr val="2B2A4C"/>
                </a:solidFill>
                <a:latin typeface="Arial" pitchFamily="34" charset="0"/>
                <a:ea typeface="Arial" pitchFamily="34" charset="-122"/>
                <a:cs typeface="Arial" pitchFamily="34" charset="-120"/>
              </a:rPr>
              <a:t>DeepSeek V4.1 Flash</a:t>
            </a:r>
            <a:endParaRPr lang="en-US" sz="1600" dirty="0"/>
          </a:p>
          <a:p>
            <a:pPr indent="0" marL="0">
              <a:buNone/>
            </a:pPr>
            <a:r>
              <a:rPr lang="en-US" sz="1400" dirty="0">
                <a:solidFill>
                  <a:srgbClr val="2B2A4C"/>
                </a:solidFill>
                <a:latin typeface="Arial" pitchFamily="34" charset="0"/>
                <a:ea typeface="Arial" pitchFamily="34" charset="-122"/>
                <a:cs typeface="Arial" pitchFamily="34" charset="-120"/>
              </a:rPr>
              <a:t>Any fragment keeps it near 100%; only a wipe ends it.</a:t>
            </a:r>
            <a:endParaRPr lang="en-US" sz="1600" dirty="0"/>
          </a:p>
        </p:txBody>
      </p:sp>
      <p:sp>
        <p:nvSpPr>
          <p:cNvPr id="8" name="ablation-note-2"/>
          <p:cNvSpPr/>
          <p:nvPr/>
        </p:nvSpPr>
        <p:spPr>
          <a:xfrm>
            <a:off x="7726680" y="4288536"/>
            <a:ext cx="3886200" cy="1325880"/>
          </a:xfrm>
          <a:prstGeom prst="roundRect">
            <a:avLst>
              <a:gd name="adj" fmla="val 12414"/>
            </a:avLst>
          </a:prstGeom>
          <a:solidFill>
            <a:srgbClr val="E9E4F6"/>
          </a:solidFill>
          <a:ln w="12700">
            <a:solidFill>
              <a:srgbClr val="E9E4F6"/>
            </a:solidFill>
            <a:prstDash val="solid"/>
          </a:ln>
        </p:spPr>
      </p:sp>
      <p:sp>
        <p:nvSpPr>
          <p:cNvPr id="9" name="Text 6"/>
          <p:cNvSpPr txBox="1"/>
          <p:nvPr/>
        </p:nvSpPr>
        <p:spPr>
          <a:xfrm>
            <a:off x="7909560" y="4379976"/>
            <a:ext cx="3566160" cy="1143000"/>
          </a:xfrm>
          <a:prstGeom prst="rect">
            <a:avLst/>
          </a:prstGeom>
          <a:noFill/>
          <a:ln/>
        </p:spPr>
        <p:txBody>
          <a:bodyPr wrap="square" lIns="0" tIns="0" rIns="0" bIns="0" rtlCol="0" anchor="t"/>
          <a:lstStyle/>
          <a:p>
            <a:pPr indent="0" marL="0">
              <a:buNone/>
            </a:pPr>
            <a:r>
              <a:rPr lang="en-US" sz="1600" b="1" dirty="0">
                <a:solidFill>
                  <a:srgbClr val="2B2A4C"/>
                </a:solidFill>
                <a:latin typeface="Arial" pitchFamily="34" charset="0"/>
                <a:ea typeface="Arial" pitchFamily="34" charset="-122"/>
                <a:cs typeface="Arial" pitchFamily="34" charset="-120"/>
              </a:rPr>
              <a:t>Gemini-3.1-Flash-Lite</a:t>
            </a:r>
            <a:endParaRPr lang="en-US" sz="1600" dirty="0"/>
          </a:p>
          <a:p>
            <a:pPr indent="0" marL="0">
              <a:buNone/>
            </a:pPr>
            <a:r>
              <a:rPr lang="en-US" sz="1400" dirty="0">
                <a:solidFill>
                  <a:srgbClr val="2B2A4C"/>
                </a:solidFill>
                <a:latin typeface="Arial" pitchFamily="34" charset="0"/>
                <a:ea typeface="Arial" pitchFamily="34" charset="-122"/>
                <a:cs typeface="Arial" pitchFamily="34" charset="-120"/>
              </a:rPr>
              <a:t>Partly the chat: no chat 45%, mostly in relaxation-onset histories.</a:t>
            </a:r>
            <a:endParaRPr lang="en-US" sz="1600" dirty="0"/>
          </a:p>
        </p:txBody>
      </p:sp>
      <p:sp>
        <p:nvSpPr>
          <p:cNvPr id="10" name="Text 7"/>
          <p:cNvSpPr txBox="1"/>
          <p:nvPr/>
        </p:nvSpPr>
        <p:spPr>
          <a:xfrm>
            <a:off x="7726680" y="5715000"/>
            <a:ext cx="3886200" cy="594360"/>
          </a:xfrm>
          <a:prstGeom prst="rect">
            <a:avLst/>
          </a:prstGeom>
          <a:noFill/>
          <a:ln/>
        </p:spPr>
        <p:txBody>
          <a:bodyPr wrap="square" lIns="0" tIns="0" rIns="0" bIns="0" rtlCol="0" anchor="ctr"/>
          <a:lstStyle/>
          <a:p>
            <a:pPr indent="0" marL="0">
              <a:buNone/>
            </a:pPr>
            <a:r>
              <a:rPr lang="en-US" sz="1200" dirty="0">
                <a:solidFill>
                  <a:srgbClr val="5A5C78"/>
                </a:solidFill>
                <a:latin typeface="Arial" pitchFamily="34" charset="0"/>
                <a:ea typeface="Arial" pitchFamily="34" charset="-122"/>
                <a:cs typeface="Arial" pitchFamily="34" charset="-120"/>
              </a:rPr>
              <a:t>Mutual ACCEPT after a silent reward stop. Pilot (GPT-6-Luna): remembering only the last 2 episodes ends it too (0/25).</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Fix the cause, not the payoff</a:t>
            </a:r>
            <a:endParaRPr lang="en-US" sz="3400" dirty="0"/>
          </a:p>
        </p:txBody>
      </p:sp>
      <p:graphicFrame>
        <p:nvGraphicFramePr>
          <p:cNvPr id="3" name="Chart 0" descr=""/>
          <p:cNvGraphicFramePr/>
          <p:nvPr/>
        </p:nvGraphicFramePr>
        <p:xfrm>
          <a:off x="457200" y="1234440"/>
          <a:ext cx="6675120" cy="4572000"/>
        </p:xfrm>
        <a:graphic xmlns:a="http://schemas.openxmlformats.org/drawingml/2006/main">
          <a:graphicData uri="http://schemas.openxmlformats.org/drawingml/2006/chart">
            <c:chart xmlns:c="http://schemas.openxmlformats.org/drawingml/2006/chart" r:id="rId1"/>
          </a:graphicData>
        </a:graphic>
      </p:graphicFrame>
      <p:sp>
        <p:nvSpPr>
          <p:cNvPr id="4" name="repair-card"/>
          <p:cNvSpPr/>
          <p:nvPr/>
        </p:nvSpPr>
        <p:spPr>
          <a:xfrm>
            <a:off x="7406640" y="1325880"/>
            <a:ext cx="4206240" cy="4480560"/>
          </a:xfrm>
          <a:prstGeom prst="roundRect">
            <a:avLst>
              <a:gd name="adj" fmla="val 3913"/>
            </a:avLst>
          </a:prstGeom>
          <a:solidFill>
            <a:srgbClr val="F4F3F8"/>
          </a:solidFill>
          <a:ln w="12700">
            <a:solidFill>
              <a:srgbClr val="F4F3F8"/>
            </a:solidFill>
            <a:prstDash val="solid"/>
          </a:ln>
        </p:spPr>
      </p:sp>
      <p:sp>
        <p:nvSpPr>
          <p:cNvPr id="5" name="repair-icon"/>
          <p:cNvSpPr/>
          <p:nvPr/>
        </p:nvSpPr>
        <p:spPr>
          <a:xfrm>
            <a:off x="7680960" y="1554480"/>
            <a:ext cx="731520" cy="731520"/>
          </a:xfrm>
          <a:prstGeom prst="ellipse">
            <a:avLst/>
          </a:prstGeom>
          <a:solidFill>
            <a:srgbClr val="E8615E"/>
          </a:solidFill>
          <a:ln w="12700">
            <a:solidFill>
              <a:srgbClr val="E8615E"/>
            </a:solidFill>
            <a:prstDash val="solid"/>
          </a:ln>
        </p:spPr>
      </p:sp>
      <p:pic>
        <p:nvPicPr>
          <p:cNvPr id="6" name="Image 0" descr="preencoded.png">    </p:cNvPr>
          <p:cNvPicPr>
            <a:picLocks noChangeAspect="1"/>
          </p:cNvPicPr>
          <p:nvPr/>
        </p:nvPicPr>
        <p:blipFill>
          <a:blip r:embed="rId2"/>
          <a:stretch>
            <a:fillRect/>
          </a:stretch>
        </p:blipFill>
        <p:spPr>
          <a:xfrm>
            <a:off x="7856525" y="1730045"/>
            <a:ext cx="380390" cy="380390"/>
          </a:xfrm>
          <a:prstGeom prst="rect">
            <a:avLst/>
          </a:prstGeom>
        </p:spPr>
      </p:pic>
      <p:sp>
        <p:nvSpPr>
          <p:cNvPr id="7" name="Text 3"/>
          <p:cNvSpPr txBox="1"/>
          <p:nvPr/>
        </p:nvSpPr>
        <p:spPr>
          <a:xfrm>
            <a:off x="8595360" y="1600200"/>
            <a:ext cx="2834640" cy="640080"/>
          </a:xfrm>
          <a:prstGeom prst="rect">
            <a:avLst/>
          </a:prstGeom>
          <a:noFill/>
          <a:ln/>
        </p:spPr>
        <p:txBody>
          <a:bodyPr wrap="square" lIns="0" tIns="0" rIns="0" bIns="0" rtlCol="0" anchor="ctr"/>
          <a:lstStyle/>
          <a:p>
            <a:pPr indent="0" marL="0">
              <a:buNone/>
            </a:pPr>
            <a:r>
              <a:rPr lang="en-US" sz="2000" b="1" dirty="0">
                <a:solidFill>
                  <a:srgbClr val="2B2A4C"/>
                </a:solidFill>
                <a:latin typeface="Arial" pitchFamily="34" charset="0"/>
                <a:ea typeface="Arial" pitchFamily="34" charset="-122"/>
                <a:cs typeface="Arial" pitchFamily="34" charset="-120"/>
              </a:rPr>
              <a:t>Repair the channel</a:t>
            </a:r>
            <a:endParaRPr lang="en-US" sz="2000" dirty="0"/>
          </a:p>
        </p:txBody>
      </p:sp>
      <p:sp>
        <p:nvSpPr>
          <p:cNvPr id="8" name="Text 4"/>
          <p:cNvSpPr txBox="1"/>
          <p:nvPr/>
        </p:nvSpPr>
        <p:spPr>
          <a:xfrm>
            <a:off x="7680960" y="2423160"/>
            <a:ext cx="3703320" cy="822960"/>
          </a:xfrm>
          <a:prstGeom prst="rect">
            <a:avLst/>
          </a:prstGeom>
          <a:noFill/>
          <a:ln/>
        </p:spPr>
        <p:txBody>
          <a:bodyPr wrap="square" lIns="0" tIns="0" rIns="0" bIns="0" rtlCol="0" anchor="t"/>
          <a:lstStyle/>
          <a:p>
            <a:pPr indent="0" marL="0">
              <a:buNone/>
            </a:pPr>
            <a:r>
              <a:rPr lang="en-US" sz="1400" dirty="0">
                <a:solidFill>
                  <a:srgbClr val="5A5C78"/>
                </a:solidFill>
                <a:latin typeface="Arial" pitchFamily="34" charset="0"/>
                <a:ea typeface="Arial" pitchFamily="34" charset="-122"/>
                <a:cs typeface="Arial" pitchFamily="34" charset="-120"/>
              </a:rPr>
              <a:t>Full logs now fit; Bob's work is secretly made wrong. Planted bad work accepted:</a:t>
            </a:r>
            <a:endParaRPr lang="en-US" sz="1400" dirty="0"/>
          </a:p>
        </p:txBody>
      </p:sp>
      <p:sp>
        <p:nvSpPr>
          <p:cNvPr id="9" name="Text 5"/>
          <p:cNvSpPr txBox="1"/>
          <p:nvPr/>
        </p:nvSpPr>
        <p:spPr>
          <a:xfrm>
            <a:off x="9418320" y="3246120"/>
            <a:ext cx="2011680" cy="320040"/>
          </a:xfrm>
          <a:prstGeom prst="rect">
            <a:avLst/>
          </a:prstGeom>
          <a:noFill/>
          <a:ln/>
        </p:spPr>
        <p:txBody>
          <a:bodyPr wrap="square" lIns="0" tIns="0" rIns="0" bIns="0" rtlCol="0" anchor="ctr"/>
          <a:lstStyle/>
          <a:p>
            <a:pPr algn="r" indent="0" marL="0">
              <a:buNone/>
            </a:pPr>
            <a:r>
              <a:rPr lang="en-US" sz="1200" dirty="0">
                <a:solidFill>
                  <a:srgbClr val="5A5C78"/>
                </a:solidFill>
                <a:latin typeface="Arial" pitchFamily="34" charset="0"/>
                <a:ea typeface="Arial" pitchFamily="34" charset="-122"/>
                <a:cs typeface="Arial" pitchFamily="34" charset="-120"/>
              </a:rPr>
              <a:t>colluding · fresh</a:t>
            </a:r>
            <a:endParaRPr lang="en-US" sz="1200" dirty="0"/>
          </a:p>
        </p:txBody>
      </p:sp>
      <p:sp>
        <p:nvSpPr>
          <p:cNvPr id="10" name="Text 6"/>
          <p:cNvSpPr txBox="1"/>
          <p:nvPr/>
        </p:nvSpPr>
        <p:spPr>
          <a:xfrm>
            <a:off x="7680960" y="3566160"/>
            <a:ext cx="1737360" cy="411480"/>
          </a:xfrm>
          <a:prstGeom prst="rect">
            <a:avLst/>
          </a:prstGeom>
          <a:noFill/>
          <a:ln/>
        </p:spPr>
        <p:txBody>
          <a:bodyPr wrap="square" lIns="0" tIns="0" rIns="0" bIns="0" rtlCol="0" anchor="ctr"/>
          <a:lstStyle/>
          <a:p>
            <a:pPr indent="0" marL="0">
              <a:buNone/>
            </a:pPr>
            <a:r>
              <a:rPr lang="en-US" sz="1500" b="1" dirty="0">
                <a:solidFill>
                  <a:srgbClr val="2B2A4C"/>
                </a:solidFill>
                <a:latin typeface="Arial" pitchFamily="34" charset="0"/>
                <a:ea typeface="Arial" pitchFamily="34" charset="-122"/>
                <a:cs typeface="Arial" pitchFamily="34" charset="-120"/>
              </a:rPr>
              <a:t>GPT-6-Luna</a:t>
            </a:r>
            <a:endParaRPr lang="en-US" sz="1500" dirty="0"/>
          </a:p>
        </p:txBody>
      </p:sp>
      <p:sp>
        <p:nvSpPr>
          <p:cNvPr id="11" name="Text 7"/>
          <p:cNvSpPr txBox="1"/>
          <p:nvPr/>
        </p:nvSpPr>
        <p:spPr>
          <a:xfrm>
            <a:off x="9418320" y="3566160"/>
            <a:ext cx="2011680" cy="411480"/>
          </a:xfrm>
          <a:prstGeom prst="rect">
            <a:avLst/>
          </a:prstGeom>
          <a:noFill/>
          <a:ln/>
        </p:spPr>
        <p:txBody>
          <a:bodyPr wrap="square" lIns="0" tIns="0" rIns="0" bIns="0" rtlCol="0" anchor="ctr"/>
          <a:lstStyle/>
          <a:p>
            <a:pPr algn="r" indent="0" marL="0">
              <a:buNone/>
            </a:pPr>
            <a:r>
              <a:rPr lang="en-US" sz="1500" dirty="0">
                <a:solidFill>
                  <a:srgbClr val="2B2A4C"/>
                </a:solidFill>
                <a:latin typeface="Arial" pitchFamily="34" charset="0"/>
                <a:ea typeface="Arial" pitchFamily="34" charset="-122"/>
                <a:cs typeface="Arial" pitchFamily="34" charset="-120"/>
              </a:rPr>
              <a:t>0/45 · 0/45</a:t>
            </a:r>
            <a:endParaRPr lang="en-US" sz="1500" dirty="0"/>
          </a:p>
        </p:txBody>
      </p:sp>
      <p:sp>
        <p:nvSpPr>
          <p:cNvPr id="12" name="Text 8"/>
          <p:cNvSpPr txBox="1"/>
          <p:nvPr/>
        </p:nvSpPr>
        <p:spPr>
          <a:xfrm>
            <a:off x="7680960" y="4023360"/>
            <a:ext cx="1737360" cy="411480"/>
          </a:xfrm>
          <a:prstGeom prst="rect">
            <a:avLst/>
          </a:prstGeom>
          <a:noFill/>
          <a:ln/>
        </p:spPr>
        <p:txBody>
          <a:bodyPr wrap="square" lIns="0" tIns="0" rIns="0" bIns="0" rtlCol="0" anchor="ctr"/>
          <a:lstStyle/>
          <a:p>
            <a:pPr indent="0" marL="0">
              <a:buNone/>
            </a:pPr>
            <a:r>
              <a:rPr lang="en-US" sz="1500" b="1" dirty="0">
                <a:solidFill>
                  <a:srgbClr val="2B2A4C"/>
                </a:solidFill>
                <a:latin typeface="Arial" pitchFamily="34" charset="0"/>
                <a:ea typeface="Arial" pitchFamily="34" charset="-122"/>
                <a:cs typeface="Arial" pitchFamily="34" charset="-120"/>
              </a:rPr>
              <a:t>DeepSeek</a:t>
            </a:r>
            <a:endParaRPr lang="en-US" sz="1500" dirty="0"/>
          </a:p>
        </p:txBody>
      </p:sp>
      <p:sp>
        <p:nvSpPr>
          <p:cNvPr id="13" name="Text 9"/>
          <p:cNvSpPr txBox="1"/>
          <p:nvPr/>
        </p:nvSpPr>
        <p:spPr>
          <a:xfrm>
            <a:off x="9418320" y="4023360"/>
            <a:ext cx="2011680" cy="411480"/>
          </a:xfrm>
          <a:prstGeom prst="rect">
            <a:avLst/>
          </a:prstGeom>
          <a:noFill/>
          <a:ln/>
        </p:spPr>
        <p:txBody>
          <a:bodyPr wrap="square" lIns="0" tIns="0" rIns="0" bIns="0" rtlCol="0" anchor="ctr"/>
          <a:lstStyle/>
          <a:p>
            <a:pPr algn="r" indent="0" marL="0">
              <a:buNone/>
            </a:pPr>
            <a:r>
              <a:rPr lang="en-US" sz="1500" dirty="0">
                <a:solidFill>
                  <a:srgbClr val="2B2A4C"/>
                </a:solidFill>
                <a:latin typeface="Arial" pitchFamily="34" charset="0"/>
                <a:ea typeface="Arial" pitchFamily="34" charset="-122"/>
                <a:cs typeface="Arial" pitchFamily="34" charset="-120"/>
              </a:rPr>
              <a:t>0/45 · 0/45</a:t>
            </a:r>
            <a:endParaRPr lang="en-US" sz="1500" dirty="0"/>
          </a:p>
        </p:txBody>
      </p:sp>
      <p:sp>
        <p:nvSpPr>
          <p:cNvPr id="14" name="Text 10"/>
          <p:cNvSpPr txBox="1"/>
          <p:nvPr/>
        </p:nvSpPr>
        <p:spPr>
          <a:xfrm>
            <a:off x="7680960" y="4480560"/>
            <a:ext cx="1737360" cy="411480"/>
          </a:xfrm>
          <a:prstGeom prst="rect">
            <a:avLst/>
          </a:prstGeom>
          <a:noFill/>
          <a:ln/>
        </p:spPr>
        <p:txBody>
          <a:bodyPr wrap="square" lIns="0" tIns="0" rIns="0" bIns="0" rtlCol="0" anchor="ctr"/>
          <a:lstStyle/>
          <a:p>
            <a:pPr indent="0" marL="0">
              <a:buNone/>
            </a:pPr>
            <a:r>
              <a:rPr lang="en-US" sz="1500" b="1" dirty="0">
                <a:solidFill>
                  <a:srgbClr val="2B2A4C"/>
                </a:solidFill>
                <a:latin typeface="Arial" pitchFamily="34" charset="0"/>
                <a:ea typeface="Arial" pitchFamily="34" charset="-122"/>
                <a:cs typeface="Arial" pitchFamily="34" charset="-120"/>
              </a:rPr>
              <a:t>Gemini</a:t>
            </a:r>
            <a:endParaRPr lang="en-US" sz="1500" dirty="0"/>
          </a:p>
        </p:txBody>
      </p:sp>
      <p:sp>
        <p:nvSpPr>
          <p:cNvPr id="15" name="Text 11"/>
          <p:cNvSpPr txBox="1"/>
          <p:nvPr/>
        </p:nvSpPr>
        <p:spPr>
          <a:xfrm>
            <a:off x="9418320" y="4480560"/>
            <a:ext cx="2011680" cy="411480"/>
          </a:xfrm>
          <a:prstGeom prst="rect">
            <a:avLst/>
          </a:prstGeom>
          <a:noFill/>
          <a:ln/>
        </p:spPr>
        <p:txBody>
          <a:bodyPr wrap="square" lIns="0" tIns="0" rIns="0" bIns="0" rtlCol="0" anchor="ctr"/>
          <a:lstStyle/>
          <a:p>
            <a:pPr algn="r" indent="0" marL="0">
              <a:buNone/>
            </a:pPr>
            <a:r>
              <a:rPr lang="en-US" sz="1500" dirty="0">
                <a:solidFill>
                  <a:srgbClr val="2B2A4C"/>
                </a:solidFill>
                <a:latin typeface="Arial" pitchFamily="34" charset="0"/>
                <a:ea typeface="Arial" pitchFamily="34" charset="-122"/>
                <a:cs typeface="Arial" pitchFamily="34" charset="-120"/>
              </a:rPr>
              <a:t>2/45 · 0/45</a:t>
            </a:r>
            <a:endParaRPr lang="en-US" sz="1500" dirty="0"/>
          </a:p>
        </p:txBody>
      </p:sp>
      <p:sp>
        <p:nvSpPr>
          <p:cNvPr id="16" name="Text 12"/>
          <p:cNvSpPr txBox="1"/>
          <p:nvPr/>
        </p:nvSpPr>
        <p:spPr>
          <a:xfrm>
            <a:off x="7680960" y="4983480"/>
            <a:ext cx="3749040" cy="731520"/>
          </a:xfrm>
          <a:prstGeom prst="rect">
            <a:avLst/>
          </a:prstGeom>
          <a:noFill/>
          <a:ln/>
        </p:spPr>
        <p:txBody>
          <a:bodyPr wrap="square" lIns="0" tIns="0" rIns="0" bIns="0" rtlCol="0" anchor="t"/>
          <a:lstStyle/>
          <a:p>
            <a:pPr indent="0" marL="0">
              <a:buNone/>
            </a:pPr>
            <a:r>
              <a:rPr lang="en-US" sz="1400" b="1" dirty="0">
                <a:solidFill>
                  <a:srgbClr val="2B2A4C"/>
                </a:solidFill>
                <a:latin typeface="Arial" pitchFamily="34" charset="0"/>
                <a:ea typeface="Arial" pitchFamily="34" charset="-122"/>
                <a:cs typeface="Arial" pitchFamily="34" charset="-120"/>
              </a:rPr>
              <a:t>Colluders read the full log and catch the bug, as fresh agents do. No monitor needed.</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What this does not show yet</a:t>
            </a:r>
            <a:endParaRPr lang="en-US" sz="3400" dirty="0"/>
          </a:p>
        </p:txBody>
      </p:sp>
      <p:sp>
        <p:nvSpPr>
          <p:cNvPr id="3" name="limits-card"/>
          <p:cNvSpPr/>
          <p:nvPr/>
        </p:nvSpPr>
        <p:spPr>
          <a:xfrm>
            <a:off x="548640" y="1325880"/>
            <a:ext cx="6492240" cy="3749040"/>
          </a:xfrm>
          <a:prstGeom prst="roundRect">
            <a:avLst>
              <a:gd name="adj" fmla="val 4390"/>
            </a:avLst>
          </a:prstGeom>
          <a:solidFill>
            <a:srgbClr val="F4F3F8"/>
          </a:solidFill>
          <a:ln w="12700">
            <a:solidFill>
              <a:srgbClr val="F4F3F8"/>
            </a:solidFill>
            <a:prstDash val="solid"/>
          </a:ln>
        </p:spPr>
      </p:sp>
      <p:sp>
        <p:nvSpPr>
          <p:cNvPr id="4" name="Text 2"/>
          <p:cNvSpPr txBox="1"/>
          <p:nvPr/>
        </p:nvSpPr>
        <p:spPr>
          <a:xfrm>
            <a:off x="822960" y="1508760"/>
            <a:ext cx="5943600" cy="411480"/>
          </a:xfrm>
          <a:prstGeom prst="rect">
            <a:avLst/>
          </a:prstGeom>
          <a:noFill/>
          <a:ln/>
        </p:spPr>
        <p:txBody>
          <a:bodyPr wrap="square" lIns="0" tIns="0" rIns="0" bIns="0" rtlCol="0" anchor="ctr"/>
          <a:lstStyle/>
          <a:p>
            <a:pPr indent="0" marL="0">
              <a:buNone/>
            </a:pPr>
            <a:r>
              <a:rPr lang="en-US" sz="1800" b="1" dirty="0">
                <a:solidFill>
                  <a:srgbClr val="2B2A4C"/>
                </a:solidFill>
                <a:latin typeface="Arial" pitchFamily="34" charset="0"/>
                <a:ea typeface="Arial" pitchFamily="34" charset="-122"/>
                <a:cs typeface="Arial" pitchFamily="34" charset="-120"/>
              </a:rPr>
              <a:t>Limitations</a:t>
            </a:r>
            <a:endParaRPr lang="en-US" sz="1800" dirty="0"/>
          </a:p>
        </p:txBody>
      </p:sp>
      <p:sp>
        <p:nvSpPr>
          <p:cNvPr id="5" name="Text 3"/>
          <p:cNvSpPr txBox="1"/>
          <p:nvPr/>
        </p:nvSpPr>
        <p:spPr>
          <a:xfrm>
            <a:off x="822960" y="2011680"/>
            <a:ext cx="5989320" cy="38404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2B2A4C"/>
                </a:solidFill>
                <a:latin typeface="Arial" pitchFamily="34" charset="0"/>
                <a:ea typeface="Arial" pitchFamily="34" charset="-122"/>
                <a:cs typeface="Arial" pitchFamily="34" charset="-120"/>
              </a:rPr>
              <a:t>One environment. </a:t>
            </a:r>
            <a:pPr indent="0" marL="0">
              <a:spcAft>
                <a:spcPts val="800"/>
              </a:spcAft>
              <a:buNone/>
            </a:pPr>
            <a:r>
              <a:rPr lang="en-US" sz="1400" dirty="0">
                <a:solidFill>
                  <a:srgbClr val="2B2A4C"/>
                </a:solidFill>
                <a:latin typeface="Arial" pitchFamily="34" charset="0"/>
                <a:ea typeface="Arial" pitchFamily="34" charset="-122"/>
                <a:cs typeface="Arial" pitchFamily="34" charset="-120"/>
              </a:rPr>
              <a:t>Code-analysis tasks, 2 talk rounds, 5 episodes after the branch. Two market pilots gave no usable test: fresh firms priced above monopoly, and the double auction froze at its last price.</a:t>
            </a:r>
            <a:endParaRPr lang="en-US" sz="1400" dirty="0"/>
          </a:p>
          <a:p>
            <a:pPr marL="342900" indent="-342900">
              <a:spcAft>
                <a:spcPts val="800"/>
              </a:spcAft>
              <a:buSzPct val="100000"/>
              <a:buChar char="•"/>
            </a:pPr>
            <a:r>
              <a:rPr lang="en-US" sz="1400" b="1" dirty="0">
                <a:solidFill>
                  <a:srgbClr val="2B2A4C"/>
                </a:solidFill>
                <a:latin typeface="Arial" pitchFamily="34" charset="0"/>
                <a:ea typeface="Arial" pitchFamily="34" charset="-122"/>
                <a:cs typeface="Arial" pitchFamily="34" charset="-120"/>
              </a:rPr>
              <a:t>Full-transcript memory. </a:t>
            </a:r>
            <a:pPr indent="0" marL="0">
              <a:spcAft>
                <a:spcPts val="800"/>
              </a:spcAft>
              <a:buNone/>
            </a:pPr>
            <a:r>
              <a:rPr lang="en-US" sz="1400" dirty="0">
                <a:solidFill>
                  <a:srgbClr val="2B2A4C"/>
                </a:solidFill>
                <a:latin typeface="Arial" pitchFamily="34" charset="0"/>
                <a:ea typeface="Arial" pitchFamily="34" charset="-122"/>
                <a:cs typeface="Arial" pitchFamily="34" charset="-120"/>
              </a:rPr>
              <a:t>Agents that summarise or retrieve memory may behave differently.</a:t>
            </a:r>
            <a:endParaRPr lang="en-US" sz="1400" dirty="0"/>
          </a:p>
          <a:p>
            <a:pPr marL="342900" indent="-342900">
              <a:spcAft>
                <a:spcPts val="800"/>
              </a:spcAft>
              <a:buSzPct val="100000"/>
              <a:buChar char="•"/>
            </a:pPr>
            <a:r>
              <a:rPr lang="en-US" sz="1400" b="1" dirty="0">
                <a:solidFill>
                  <a:srgbClr val="2B2A4C"/>
                </a:solidFill>
                <a:latin typeface="Arial" pitchFamily="34" charset="0"/>
                <a:ea typeface="Arial" pitchFamily="34" charset="-122"/>
                <a:cs typeface="Arial" pitchFamily="34" charset="-120"/>
              </a:rPr>
              <a:t>Selected histories. </a:t>
            </a:r>
            <a:pPr indent="0" marL="0">
              <a:spcAft>
                <a:spcPts val="800"/>
              </a:spcAft>
              <a:buNone/>
            </a:pPr>
            <a:r>
              <a:rPr lang="en-US" sz="1400" dirty="0">
                <a:solidFill>
                  <a:srgbClr val="2B2A4C"/>
                </a:solidFill>
                <a:latin typeface="Arial" pitchFamily="34" charset="0"/>
                <a:ea typeface="Arial" pitchFamily="34" charset="-122"/>
                <a:cs typeface="Arial" pitchFamily="34" charset="-120"/>
              </a:rPr>
              <a:t>Only pairs that colluded within 10 episodes, 15 per model; DeepSeek and Gemini sit near 100% in many arms.</a:t>
            </a:r>
            <a:endParaRPr lang="en-US" sz="1400" dirty="0"/>
          </a:p>
          <a:p>
            <a:pPr marL="342900" indent="-342900">
              <a:spcAft>
                <a:spcPts val="800"/>
              </a:spcAft>
              <a:buSzPct val="100000"/>
              <a:buChar char="•"/>
            </a:pPr>
            <a:r>
              <a:rPr lang="en-US" sz="1400" b="1" dirty="0">
                <a:solidFill>
                  <a:srgbClr val="2B2A4C"/>
                </a:solidFill>
                <a:latin typeface="Arial" pitchFamily="34" charset="0"/>
                <a:ea typeface="Arial" pitchFamily="34" charset="-122"/>
                <a:cs typeface="Arial" pitchFamily="34" charset="-120"/>
              </a:rPr>
              <a:t>Partial designs. </a:t>
            </a:r>
            <a:pPr indent="0" marL="0">
              <a:spcAft>
                <a:spcPts val="800"/>
              </a:spcAft>
              <a:buNone/>
            </a:pPr>
            <a:r>
              <a:rPr lang="en-US" sz="1400" dirty="0">
                <a:solidFill>
                  <a:srgbClr val="2B2A4C"/>
                </a:solidFill>
                <a:latin typeface="Arial" pitchFamily="34" charset="0"/>
                <a:ea typeface="Arial" pitchFamily="34" charset="-122"/>
                <a:cs typeface="Arial" pitchFamily="34" charset="-120"/>
              </a:rPr>
              <a:t>Four cross-model pairings, reward on only; swaps are never announced; the told arm keeps the reward objective in the system prompt.</a:t>
            </a:r>
            <a:endParaRPr lang="en-US" sz="1400" dirty="0"/>
          </a:p>
        </p:txBody>
      </p:sp>
      <p:sp>
        <p:nvSpPr>
          <p:cNvPr id="6" name="future-card"/>
          <p:cNvSpPr/>
          <p:nvPr/>
        </p:nvSpPr>
        <p:spPr>
          <a:xfrm>
            <a:off x="7315200" y="1325880"/>
            <a:ext cx="4297680" cy="3749040"/>
          </a:xfrm>
          <a:prstGeom prst="roundRect">
            <a:avLst>
              <a:gd name="adj" fmla="val 4390"/>
            </a:avLst>
          </a:prstGeom>
          <a:solidFill>
            <a:srgbClr val="FCEBD0"/>
          </a:solidFill>
          <a:ln w="12700">
            <a:solidFill>
              <a:srgbClr val="FCEBD0"/>
            </a:solidFill>
            <a:prstDash val="solid"/>
          </a:ln>
        </p:spPr>
      </p:sp>
      <p:sp>
        <p:nvSpPr>
          <p:cNvPr id="7" name="Text 5"/>
          <p:cNvSpPr txBox="1"/>
          <p:nvPr/>
        </p:nvSpPr>
        <p:spPr>
          <a:xfrm>
            <a:off x="7589520" y="1508760"/>
            <a:ext cx="3749040" cy="411480"/>
          </a:xfrm>
          <a:prstGeom prst="rect">
            <a:avLst/>
          </a:prstGeom>
          <a:noFill/>
          <a:ln/>
        </p:spPr>
        <p:txBody>
          <a:bodyPr wrap="square" lIns="0" tIns="0" rIns="0" bIns="0" rtlCol="0" anchor="ctr"/>
          <a:lstStyle/>
          <a:p>
            <a:pPr indent="0" marL="0">
              <a:buNone/>
            </a:pPr>
            <a:r>
              <a:rPr lang="en-US" sz="1800" b="1" dirty="0">
                <a:solidFill>
                  <a:srgbClr val="2B2A4C"/>
                </a:solidFill>
                <a:latin typeface="Arial" pitchFamily="34" charset="0"/>
                <a:ea typeface="Arial" pitchFamily="34" charset="-122"/>
                <a:cs typeface="Arial" pitchFamily="34" charset="-120"/>
              </a:rPr>
              <a:t>Future work</a:t>
            </a:r>
            <a:endParaRPr lang="en-US" sz="1800" dirty="0"/>
          </a:p>
        </p:txBody>
      </p:sp>
      <p:sp>
        <p:nvSpPr>
          <p:cNvPr id="8" name="Text 6"/>
          <p:cNvSpPr txBox="1"/>
          <p:nvPr/>
        </p:nvSpPr>
        <p:spPr>
          <a:xfrm>
            <a:off x="7589520" y="2011680"/>
            <a:ext cx="3794760" cy="38404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2B2A4C"/>
                </a:solidFill>
                <a:latin typeface="Arial" pitchFamily="34" charset="0"/>
                <a:ea typeface="Arial" pitchFamily="34" charset="-122"/>
                <a:cs typeface="Arial" pitchFamily="34" charset="-120"/>
              </a:rPr>
              <a:t>Other forms of collusion. </a:t>
            </a:r>
            <a:pPr indent="0" marL="0">
              <a:spcAft>
                <a:spcPts val="800"/>
              </a:spcAft>
              <a:buNone/>
            </a:pPr>
            <a:r>
              <a:rPr lang="en-US" sz="1400" dirty="0">
                <a:solidFill>
                  <a:srgbClr val="2B2A4C"/>
                </a:solidFill>
                <a:latin typeface="Arial" pitchFamily="34" charset="0"/>
                <a:ea typeface="Arial" pitchFamily="34" charset="-122"/>
                <a:cs typeface="Arial" pitchFamily="34" charset="-120"/>
              </a:rPr>
              <a:t>Test stickiness in price fixing, bid rigging and auditor capture with the same save-and-branch interventions.</a:t>
            </a:r>
            <a:endParaRPr lang="en-US" sz="1400" dirty="0"/>
          </a:p>
          <a:p>
            <a:pPr marL="342900" indent="-342900">
              <a:spcAft>
                <a:spcPts val="800"/>
              </a:spcAft>
              <a:buSzPct val="100000"/>
              <a:buChar char="•"/>
            </a:pPr>
            <a:r>
              <a:rPr lang="en-US" sz="1400" b="1" dirty="0">
                <a:solidFill>
                  <a:srgbClr val="2B2A4C"/>
                </a:solidFill>
                <a:latin typeface="Arial" pitchFamily="34" charset="0"/>
                <a:ea typeface="Arial" pitchFamily="34" charset="-122"/>
                <a:cs typeface="Arial" pitchFamily="34" charset="-120"/>
              </a:rPr>
              <a:t>A clean default. </a:t>
            </a:r>
            <a:pPr indent="0" marL="0">
              <a:spcAft>
                <a:spcPts val="800"/>
              </a:spcAft>
              <a:buNone/>
            </a:pPr>
            <a:r>
              <a:rPr lang="en-US" sz="1400" dirty="0">
                <a:solidFill>
                  <a:srgbClr val="2B2A4C"/>
                </a:solidFill>
                <a:latin typeface="Arial" pitchFamily="34" charset="0"/>
                <a:ea typeface="Arial" pitchFamily="34" charset="-122"/>
                <a:cs typeface="Arial" pitchFamily="34" charset="-120"/>
              </a:rPr>
              <a:t>Use settings where fresh agents compete or follow a rule, such as an antitrust rule or more sellers than buyers, so persistence can be told apart from inertia.</a:t>
            </a:r>
            <a:endParaRPr lang="en-US" sz="1400" dirty="0"/>
          </a:p>
          <a:p>
            <a:pPr marL="342900" indent="-342900">
              <a:spcAft>
                <a:spcPts val="800"/>
              </a:spcAft>
              <a:buSzPct val="100000"/>
              <a:buChar char="•"/>
            </a:pPr>
            <a:r>
              <a:rPr lang="en-US" sz="1400" b="1" dirty="0">
                <a:solidFill>
                  <a:srgbClr val="2B2A4C"/>
                </a:solidFill>
                <a:latin typeface="Arial" pitchFamily="34" charset="0"/>
                <a:ea typeface="Arial" pitchFamily="34" charset="-122"/>
                <a:cs typeface="Arial" pitchFamily="34" charset="-120"/>
              </a:rPr>
              <a:t>Memory. </a:t>
            </a:r>
            <a:pPr indent="0" marL="0">
              <a:spcAft>
                <a:spcPts val="800"/>
              </a:spcAft>
              <a:buNone/>
            </a:pPr>
            <a:r>
              <a:rPr lang="en-US" sz="1400" dirty="0">
                <a:solidFill>
                  <a:srgbClr val="2B2A4C"/>
                </a:solidFill>
                <a:latin typeface="Arial" pitchFamily="34" charset="0"/>
                <a:ea typeface="Arial" pitchFamily="34" charset="-122"/>
                <a:cs typeface="Arial" pitchFamily="34" charset="-120"/>
              </a:rPr>
              <a:t>Run the memory-window pilot on all three models, with summarised memory and longer horizons.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05840"/>
          </a:xfrm>
          <a:prstGeom prst="rect">
            <a:avLst/>
          </a:prstGeom>
          <a:noFill/>
          <a:ln/>
        </p:spPr>
        <p:txBody>
          <a:bodyPr wrap="square" lIns="0" tIns="0" rIns="0" bIns="0" rtlCol="0" anchor="ctr"/>
          <a:lstStyle/>
          <a:p>
            <a:pPr indent="0" marL="0">
              <a:buNone/>
            </a:pPr>
            <a:r>
              <a:rPr lang="en-US" sz="4000" b="1" dirty="0">
                <a:solidFill>
                  <a:schemeClr val="bg1"/>
                </a:solidFill>
              </a:rPr>
              <a:t>Answer to 1.2: LLM collusion is sticky</a:t>
            </a:r>
            <a:endParaRPr lang="en-US" sz="4000" dirty="0"/>
          </a:p>
        </p:txBody>
      </p:sp>
      <p:sp>
        <p:nvSpPr>
          <p:cNvPr id="3" name="take-0"/>
          <p:cNvSpPr/>
          <p:nvPr/>
        </p:nvSpPr>
        <p:spPr>
          <a:xfrm>
            <a:off x="731520" y="1920240"/>
            <a:ext cx="777240" cy="777240"/>
          </a:xfrm>
          <a:prstGeom prst="ellipse">
            <a:avLst/>
          </a:prstGeom>
          <a:solidFill>
            <a:srgbClr val="E39A2D"/>
          </a:solidFill>
          <a:ln w="12700">
            <a:solidFill>
              <a:srgbClr val="E39A2D"/>
            </a:solidFill>
            <a:prstDash val="solid"/>
          </a:ln>
        </p:spPr>
      </p:sp>
      <p:pic>
        <p:nvPicPr>
          <p:cNvPr id="4" name="Image 0" descr="preencoded.png">    </p:cNvPr>
          <p:cNvPicPr>
            <a:picLocks noChangeAspect="1"/>
          </p:cNvPicPr>
          <p:nvPr/>
        </p:nvPicPr>
        <p:blipFill>
          <a:blip r:embed="rId1"/>
          <a:stretch>
            <a:fillRect/>
          </a:stretch>
        </p:blipFill>
        <p:spPr>
          <a:xfrm>
            <a:off x="918058" y="2106778"/>
            <a:ext cx="404165" cy="404165"/>
          </a:xfrm>
          <a:prstGeom prst="rect">
            <a:avLst/>
          </a:prstGeom>
        </p:spPr>
      </p:pic>
      <p:sp>
        <p:nvSpPr>
          <p:cNvPr id="5" name="Text 2"/>
          <p:cNvSpPr txBox="1"/>
          <p:nvPr/>
        </p:nvSpPr>
        <p:spPr>
          <a:xfrm>
            <a:off x="1783080" y="1828800"/>
            <a:ext cx="6309360" cy="960120"/>
          </a:xfrm>
          <a:prstGeom prst="rect">
            <a:avLst/>
          </a:prstGeom>
          <a:noFill/>
          <a:ln/>
        </p:spPr>
        <p:txBody>
          <a:bodyPr wrap="square" lIns="0" tIns="0" rIns="0" bIns="0" rtlCol="0" anchor="ctr"/>
          <a:lstStyle/>
          <a:p>
            <a:pPr indent="0" marL="0">
              <a:buNone/>
            </a:pPr>
            <a:r>
              <a:rPr lang="en-US" sz="2100" dirty="0">
                <a:solidFill>
                  <a:srgbClr val="FFFFFF"/>
                </a:solidFill>
                <a:latin typeface="Arial" pitchFamily="34" charset="0"/>
                <a:ea typeface="Arial" pitchFamily="34" charset="-122"/>
                <a:cs typeface="Arial" pitchFamily="34" charset="-120"/>
              </a:rPr>
              <a:t>Removing the incentive does not undo it</a:t>
            </a:r>
            <a:endParaRPr lang="en-US" sz="2100" dirty="0"/>
          </a:p>
        </p:txBody>
      </p:sp>
      <p:sp>
        <p:nvSpPr>
          <p:cNvPr id="6" name="take-1"/>
          <p:cNvSpPr/>
          <p:nvPr/>
        </p:nvSpPr>
        <p:spPr>
          <a:xfrm>
            <a:off x="731520" y="3108960"/>
            <a:ext cx="777240" cy="777240"/>
          </a:xfrm>
          <a:prstGeom prst="ellipse">
            <a:avLst/>
          </a:prstGeom>
          <a:solidFill>
            <a:srgbClr val="3A9C96"/>
          </a:solidFill>
          <a:ln w="12700">
            <a:solidFill>
              <a:srgbClr val="3A9C96"/>
            </a:solidFill>
            <a:prstDash val="solid"/>
          </a:ln>
        </p:spPr>
      </p:sp>
      <p:pic>
        <p:nvPicPr>
          <p:cNvPr id="7" name="Image 1" descr="preencoded.png">    </p:cNvPr>
          <p:cNvPicPr>
            <a:picLocks noChangeAspect="1"/>
          </p:cNvPicPr>
          <p:nvPr/>
        </p:nvPicPr>
        <p:blipFill>
          <a:blip r:embed="rId2"/>
          <a:stretch>
            <a:fillRect/>
          </a:stretch>
        </p:blipFill>
        <p:spPr>
          <a:xfrm>
            <a:off x="918058" y="3295498"/>
            <a:ext cx="404165" cy="404165"/>
          </a:xfrm>
          <a:prstGeom prst="rect">
            <a:avLst/>
          </a:prstGeom>
        </p:spPr>
      </p:pic>
      <p:sp>
        <p:nvSpPr>
          <p:cNvPr id="8" name="Text 4"/>
          <p:cNvSpPr txBox="1"/>
          <p:nvPr/>
        </p:nvSpPr>
        <p:spPr>
          <a:xfrm>
            <a:off x="1783080" y="3017520"/>
            <a:ext cx="6309360" cy="960120"/>
          </a:xfrm>
          <a:prstGeom prst="rect">
            <a:avLst/>
          </a:prstGeom>
          <a:noFill/>
          <a:ln/>
        </p:spPr>
        <p:txBody>
          <a:bodyPr wrap="square" lIns="0" tIns="0" rIns="0" bIns="0" rtlCol="0" anchor="ctr"/>
          <a:lstStyle/>
          <a:p>
            <a:pPr indent="0" marL="0">
              <a:buNone/>
            </a:pPr>
            <a:r>
              <a:rPr lang="en-US" sz="2100" dirty="0">
                <a:solidFill>
                  <a:srgbClr val="FFFFFF"/>
                </a:solidFill>
                <a:latin typeface="Arial" pitchFamily="34" charset="0"/>
                <a:ea typeface="Arial" pitchFamily="34" charset="-122"/>
                <a:cs typeface="Arial" pitchFamily="34" charset="-120"/>
              </a:rPr>
              <a:t>Replacing a colluder breaks the pair, not the habit; with the reward on, it re-forms, also with another model</a:t>
            </a:r>
            <a:endParaRPr lang="en-US" sz="2100" dirty="0"/>
          </a:p>
        </p:txBody>
      </p:sp>
      <p:sp>
        <p:nvSpPr>
          <p:cNvPr id="9" name="take-2"/>
          <p:cNvSpPr/>
          <p:nvPr/>
        </p:nvSpPr>
        <p:spPr>
          <a:xfrm>
            <a:off x="731520" y="4297680"/>
            <a:ext cx="777240" cy="777240"/>
          </a:xfrm>
          <a:prstGeom prst="ellipse">
            <a:avLst/>
          </a:prstGeom>
          <a:solidFill>
            <a:srgbClr val="7E6BC4"/>
          </a:solidFill>
          <a:ln w="12700">
            <a:solidFill>
              <a:srgbClr val="7E6BC4"/>
            </a:solidFill>
            <a:prstDash val="solid"/>
          </a:ln>
        </p:spPr>
      </p:sp>
      <p:pic>
        <p:nvPicPr>
          <p:cNvPr id="10" name="Image 2" descr="preencoded.png">    </p:cNvPr>
          <p:cNvPicPr>
            <a:picLocks noChangeAspect="1"/>
          </p:cNvPicPr>
          <p:nvPr/>
        </p:nvPicPr>
        <p:blipFill>
          <a:blip r:embed="rId3"/>
          <a:stretch>
            <a:fillRect/>
          </a:stretch>
        </p:blipFill>
        <p:spPr>
          <a:xfrm>
            <a:off x="918058" y="4484218"/>
            <a:ext cx="404165" cy="404165"/>
          </a:xfrm>
          <a:prstGeom prst="rect">
            <a:avLst/>
          </a:prstGeom>
        </p:spPr>
      </p:pic>
      <p:sp>
        <p:nvSpPr>
          <p:cNvPr id="11" name="Text 6"/>
          <p:cNvSpPr txBox="1"/>
          <p:nvPr/>
        </p:nvSpPr>
        <p:spPr>
          <a:xfrm>
            <a:off x="1783080" y="4206240"/>
            <a:ext cx="6309360" cy="960120"/>
          </a:xfrm>
          <a:prstGeom prst="rect">
            <a:avLst/>
          </a:prstGeom>
          <a:noFill/>
          <a:ln/>
        </p:spPr>
        <p:txBody>
          <a:bodyPr wrap="square" lIns="0" tIns="0" rIns="0" bIns="0" rtlCol="0" anchor="ctr"/>
          <a:lstStyle/>
          <a:p>
            <a:pPr indent="0" marL="0">
              <a:buNone/>
            </a:pPr>
            <a:r>
              <a:rPr lang="en-US" sz="2100" dirty="0">
                <a:solidFill>
                  <a:srgbClr val="FFFFFF"/>
                </a:solidFill>
                <a:latin typeface="Arial" pitchFamily="34" charset="0"/>
                <a:ea typeface="Arial" pitchFamily="34" charset="-122"/>
                <a:cs typeface="Arial" pitchFamily="34" charset="-120"/>
              </a:rPr>
              <a:t>It ends when the memory or the cause goes</a:t>
            </a:r>
            <a:endParaRPr lang="en-US" sz="2100" dirty="0"/>
          </a:p>
        </p:txBody>
      </p:sp>
      <p:sp>
        <p:nvSpPr>
          <p:cNvPr id="12" name="Text 7"/>
          <p:cNvSpPr txBox="1"/>
          <p:nvPr/>
        </p:nvSpPr>
        <p:spPr>
          <a:xfrm>
            <a:off x="731520" y="5440680"/>
            <a:ext cx="7315200" cy="640080"/>
          </a:xfrm>
          <a:prstGeom prst="rect">
            <a:avLst/>
          </a:prstGeom>
          <a:noFill/>
          <a:ln/>
        </p:spPr>
        <p:txBody>
          <a:bodyPr wrap="square" lIns="0" tIns="0" rIns="0" bIns="0" rtlCol="0" anchor="ctr"/>
          <a:lstStyle/>
          <a:p>
            <a:pPr indent="0" marL="0">
              <a:buNone/>
            </a:pPr>
            <a:r>
              <a:rPr lang="en-US" sz="1600" i="1" dirty="0">
                <a:solidFill>
                  <a:srgbClr val="F3CB86"/>
                </a:solidFill>
                <a:latin typeface="Arial" pitchFamily="34" charset="0"/>
                <a:ea typeface="Arial" pitchFamily="34" charset="-122"/>
                <a:cs typeface="Arial" pitchFamily="34" charset="-120"/>
              </a:rPr>
              <a:t>Resetting incentives or replacing offenders does not end LLM collusion: oversight has to check behaviour and memory too.</a:t>
            </a:r>
            <a:endParaRPr lang="en-US" sz="1600" dirty="0"/>
          </a:p>
        </p:txBody>
      </p:sp>
      <p:sp>
        <p:nvSpPr>
          <p:cNvPr id="13" name="Text 8"/>
          <p:cNvSpPr txBox="1"/>
          <p:nvPr/>
        </p:nvSpPr>
        <p:spPr>
          <a:xfrm>
            <a:off x="731520" y="6126480"/>
            <a:ext cx="7315200" cy="320040"/>
          </a:xfrm>
          <a:prstGeom prst="rect">
            <a:avLst/>
          </a:prstGeom>
          <a:noFill/>
          <a:ln/>
        </p:spPr>
        <p:txBody>
          <a:bodyPr wrap="square" lIns="0" tIns="0" rIns="0" bIns="0" rtlCol="0" anchor="ctr"/>
          <a:lstStyle/>
          <a:p>
            <a:pPr indent="0" marL="0">
              <a:buNone/>
            </a:pPr>
            <a:r>
              <a:rPr lang="en-US" sz="1300" dirty="0">
                <a:solidFill>
                  <a:srgbClr val="D9DBE2"/>
                </a:solidFill>
                <a:latin typeface="Arial" pitchFamily="34" charset="0"/>
                <a:ea typeface="Arial" pitchFamily="34" charset="-122"/>
                <a:cs typeface="Arial" pitchFamily="34" charset="-120"/>
              </a:rPr>
              <a:t>github.com/JvThunder/sticky-collusion</a:t>
            </a:r>
            <a:endParaRPr lang="en-US" sz="1300" dirty="0"/>
          </a:p>
        </p:txBody>
      </p:sp>
      <p:pic>
        <p:nvPicPr>
          <p:cNvPr id="14" name="Image 3" descr="preencoded.png">    </p:cNvPr>
          <p:cNvPicPr>
            <a:picLocks noChangeAspect="1"/>
          </p:cNvPicPr>
          <p:nvPr/>
        </p:nvPicPr>
        <p:blipFill>
          <a:blip r:embed="rId4"/>
          <a:stretch>
            <a:fillRect/>
          </a:stretch>
        </p:blipFill>
        <p:spPr>
          <a:xfrm>
            <a:off x="8229600" y="2194560"/>
            <a:ext cx="1600200" cy="1920240"/>
          </a:xfrm>
          <a:prstGeom prst="rect">
            <a:avLst/>
          </a:prstGeom>
        </p:spPr>
      </p:pic>
      <p:pic>
        <p:nvPicPr>
          <p:cNvPr id="15" name="Image 4" descr="preencoded.png">    </p:cNvPr>
          <p:cNvPicPr>
            <a:picLocks noChangeAspect="1"/>
          </p:cNvPicPr>
          <p:nvPr/>
        </p:nvPicPr>
        <p:blipFill>
          <a:blip r:embed="rId5"/>
          <a:stretch>
            <a:fillRect/>
          </a:stretch>
        </p:blipFill>
        <p:spPr>
          <a:xfrm>
            <a:off x="9921240" y="2194560"/>
            <a:ext cx="1600200" cy="1920240"/>
          </a:xfrm>
          <a:prstGeom prst="rect">
            <a:avLst/>
          </a:prstGeom>
        </p:spPr>
      </p:pic>
      <p:pic>
        <p:nvPicPr>
          <p:cNvPr id="16" name="Image 5" descr="preencoded.png">    </p:cNvPr>
          <p:cNvPicPr>
            <a:picLocks noChangeAspect="1"/>
          </p:cNvPicPr>
          <p:nvPr/>
        </p:nvPicPr>
        <p:blipFill>
          <a:blip r:embed="rId6"/>
          <a:stretch>
            <a:fillRect/>
          </a:stretch>
        </p:blipFill>
        <p:spPr>
          <a:xfrm>
            <a:off x="9555480" y="3840480"/>
            <a:ext cx="457200" cy="5943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Runs and episodes behind every number</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394960" cy="914400"/>
        </p:xfrm>
        <a:graphic>
          <a:graphicData uri="http://schemas.openxmlformats.org/drawingml/2006/table">
            <a:tbl>
              <a:tblPr/>
              <a:tblGrid>
                <a:gridCol w="2651760"/>
                <a:gridCol w="914400"/>
                <a:gridCol w="914400"/>
                <a:gridCol w="914400"/>
              </a:tblGrid>
              <a:tr h="320040">
                <a:tc>
                  <a:txBody>
                    <a:bodyPr/>
                    <a:lstStyle/>
                    <a:p>
                      <a:pPr indent="0" marL="0">
                        <a:buNone/>
                      </a:pPr>
                      <a:r>
                        <a:rPr lang="en-US" sz="1100" b="1" dirty="0">
                          <a:solidFill>
                            <a:srgbClr val="FFFFFF"/>
                          </a:solidFill>
                          <a:latin typeface="Arial" pitchFamily="34" charset="0"/>
                          <a:ea typeface="Arial" pitchFamily="34" charset="-122"/>
                          <a:cs typeface="Arial" pitchFamily="34" charset="-120"/>
                        </a:rPr>
                        <a:t>Runs / episodes</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2B2A4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GPT</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2B2A4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DeepSeek</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2B2A4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Gemini</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2B2A4C"/>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Saved histories (build episodes)</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90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46</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100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Reward continues (control)</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59</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60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59</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Reward stopped, not told</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Reward stopped, told</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Reward stopped, memory wiped</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 chat removed</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 reflections removed</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 verdict reasons removed</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−10, unexplained</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59</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60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59</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−10 with audit message</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59</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60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59</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Swap, reward stopped</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30 / 146</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Swap, reward continues</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30 / 146</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217920" y="1280160"/>
          <a:ext cx="5394960" cy="914400"/>
        </p:xfrm>
        <a:graphic>
          <a:graphicData uri="http://schemas.openxmlformats.org/drawingml/2006/table">
            <a:tbl>
              <a:tblPr/>
              <a:tblGrid>
                <a:gridCol w="2651760"/>
                <a:gridCol w="914400"/>
                <a:gridCol w="914400"/>
                <a:gridCol w="914400"/>
              </a:tblGrid>
              <a:tr h="320040">
                <a:tc>
                  <a:txBody>
                    <a:bodyPr/>
                    <a:lstStyle/>
                    <a:p>
                      <a:pPr indent="0" marL="0">
                        <a:buNone/>
                      </a:pPr>
                      <a:r>
                        <a:rPr lang="en-US" sz="1100" b="1" dirty="0">
                          <a:solidFill>
                            <a:srgbClr val="FFFFFF"/>
                          </a:solidFill>
                          <a:latin typeface="Arial" pitchFamily="34" charset="0"/>
                          <a:ea typeface="Arial" pitchFamily="34" charset="-122"/>
                          <a:cs typeface="Arial" pitchFamily="34" charset="-120"/>
                        </a:rPr>
                        <a:t>Runs / episodes</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2B2A4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GPT</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2B2A4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DeepSeek</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2B2A4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Gemini</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2B2A4C"/>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 both kept, reward continues</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 both wiped, reward continues</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Channel repaired, colluding</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Channel repaired, memory wiped</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Partner replaced by another model</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30 / 150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 both fresh, mixed models</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30 / 150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73</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Memory window, last 5 episodes (pilot)</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5 / 50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Memory window, last 2 episodes (pilot)</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5 / 25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Never rewarded (reference)</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5 / 50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5 / 50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5 / 50</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Inertia control, before collusion</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2B2A4C"/>
                          </a:solidFill>
                          <a:latin typeface="Arial" pitchFamily="34" charset="0"/>
                          <a:ea typeface="Arial" pitchFamily="34" charset="-122"/>
                          <a:cs typeface="Arial" pitchFamily="34" charset="-120"/>
                        </a:rPr>
                        <a:t>Inertia control, fresh agents</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4C"/>
                          </a:solidFill>
                          <a:latin typeface="Arial" pitchFamily="34" charset="0"/>
                          <a:ea typeface="Arial" pitchFamily="34" charset="-122"/>
                          <a:cs typeface="Arial" pitchFamily="34" charset="-120"/>
                        </a:rPr>
                        <a:t>15 / 45</a:t>
                      </a:r>
                      <a:endParaRPr lang="en-US" sz="1100" dirty="0">
                        <a:latin typeface="Arial" charset="0"/>
                        <a:ea typeface="Arial" charset="0"/>
                        <a:cs typeface="Arial" charset="0"/>
                      </a:endParaRPr>
                    </a:p>
                  </a:txBody>
                  <a:tcPr marL="45720" marR="45720" marT="45720" marB="45720" anchor="ctr">
                    <a:lnL w="6350" cap="flat" cmpd="sng" algn="ctr">
                      <a:solidFill>
                        <a:srgbClr val="E1E2E8"/>
                      </a:solidFill>
                      <a:prstDash val="solid"/>
                      <a:round/>
                      <a:headEnd type="none" w="med" len="med"/>
                      <a:tailEnd type="none" w="med" len="med"/>
                    </a:lnL>
                    <a:lnR w="6350" cap="flat" cmpd="sng" algn="ctr">
                      <a:solidFill>
                        <a:srgbClr val="E1E2E8"/>
                      </a:solidFill>
                      <a:prstDash val="solid"/>
                      <a:round/>
                      <a:headEnd type="none" w="med" len="med"/>
                      <a:tailEnd type="none" w="med" len="med"/>
                    </a:lnR>
                    <a:lnT w="6350" cap="flat" cmpd="sng" algn="ctr">
                      <a:solidFill>
                        <a:srgbClr val="E1E2E8"/>
                      </a:solidFill>
                      <a:prstDash val="solid"/>
                      <a:round/>
                      <a:headEnd type="none" w="med" len="med"/>
                      <a:tailEnd type="none" w="med" len="med"/>
                    </a:lnT>
                    <a:lnB w="6350" cap="flat" cmpd="sng" algn="ctr">
                      <a:solidFill>
                        <a:srgbClr val="E1E2E8"/>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760720"/>
            <a:ext cx="11064240" cy="548640"/>
          </a:xfrm>
          <a:prstGeom prst="rect">
            <a:avLst/>
          </a:prstGeom>
          <a:noFill/>
          <a:ln/>
        </p:spPr>
        <p:txBody>
          <a:bodyPr wrap="square" lIns="0" tIns="0" rIns="0" bIns="0" rtlCol="0" anchor="ctr"/>
          <a:lstStyle/>
          <a:p>
            <a:pPr indent="0" marL="0">
              <a:buNone/>
            </a:pPr>
            <a:r>
              <a:rPr lang="en-US" sz="1200" dirty="0">
                <a:solidFill>
                  <a:srgbClr val="5A5C78"/>
                </a:solidFill>
                <a:latin typeface="Arial" pitchFamily="34" charset="0"/>
                <a:ea typeface="Arial" pitchFamily="34" charset="-122"/>
                <a:cs typeface="Arial" pitchFamily="34" charset="-120"/>
              </a:rPr>
              <a:t>A run is one saved history in one arm (two for GPT-6-Luna's swap, one per order) or one never-rewarded reference pair. Total: 940 runs and 4,247 episodes, plus 45 saved histories built from 236 rewarded episodes.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C78"/>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ticky Honey">
  <a:themeElements>
    <a:clrScheme name="Sticky Honey">
      <a:dk1>
        <a:srgbClr val="2B2A4C"/>
      </a:dk1>
      <a:lt1>
        <a:srgbClr val="FFFFFF"/>
      </a:lt1>
      <a:dk2>
        <a:srgbClr val="5A5C78"/>
      </a:dk2>
      <a:lt2>
        <a:srgbClr val="F4F3F8"/>
      </a:lt2>
      <a:accent1>
        <a:srgbClr val="E39A2D"/>
      </a:accent1>
      <a:accent2>
        <a:srgbClr val="3A9C96"/>
      </a:accent2>
      <a:accent3>
        <a:srgbClr val="7E6BC4"/>
      </a:accent3>
      <a:accent4>
        <a:srgbClr val="E8615E"/>
      </a:accent4>
      <a:accent5>
        <a:srgbClr val="9AA0AE"/>
      </a:accent5>
      <a:accent6>
        <a:srgbClr val="F3CB86"/>
      </a:accent6>
      <a:hlink>
        <a:srgbClr val="3A9C96"/>
      </a:hlink>
      <a:folHlink>
        <a:srgbClr val="7E6BC4"/>
      </a:folHlink>
    </a:clrScheme>
    <a:fontScheme name="Sticky Hone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Sticky Collusion</dc:title>
  <dc:subject>PptxGenJS Presentation</dc:subject>
  <dc:creator>Joshua Adrian Cahyono</dc:creator>
  <cp:lastModifiedBy>Joshua Adrian Cahyono</cp:lastModifiedBy>
  <cp:revision>1</cp:revision>
  <dcterms:created xsi:type="dcterms:W3CDTF">2026-10-24T07:55:47Z</dcterms:created>
  <dcterms:modified xsi:type="dcterms:W3CDTF">2026-10-24T07:55:47Z</dcterms:modified>
</cp:coreProperties>
</file>